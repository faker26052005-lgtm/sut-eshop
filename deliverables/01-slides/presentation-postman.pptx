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Inter"/>
      <ns0:bold ns1:id="rIdFont18"/>
      <ns0:regular ns1:id="rIdFont19"/>
    </ns0:embeddedFont>
    <ns0:embeddedFont>
      <ns0:font typeface="Space Grotesk"/>
      <ns0:bold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76a0825e-6497-4ee4-a997-134b6cbc1d63.fntdata" /><ns0:Relationship Id="rIdFont19" Type="http://schemas.openxmlformats.org/officeDocument/2006/relationships/font" Target="fonts/5099536b-eed2-4697-b44d-4e3085dd67ac.fntdata" /><ns0:Relationship Id="rIdFont20" Type="http://schemas.openxmlformats.org/officeDocument/2006/relationships/font" Target="fonts/a81686dd-311c-4922-94cf-ea6418ab9f9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059584"/>
            <a:ext cx="9144000" cy="868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29854"/>
            <a:ext cx="3638550" cy="304800"/>
          </a:xfrm>
          <a:prstGeom prst="roundRect">
            <a:avLst>
              <a:gd name="adj" fmla="val 50000"/>
            </a:avLst>
          </a:prstGeom>
          <a:solidFill>
            <a:srgbClr val="132651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059584"/>
            <a:ext cx="38100" cy="868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463254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8FAFC"/>
                </a:solidFill>
                <a:latin typeface="Space Grotesk"/>
              </a:rPr>
              <a:t>BÁO CÁO KIỂM THỬ API — ESHOP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64234"/>
            <a:ext cx="9101137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0A5FA"/>
                </a:solidFill>
                <a:latin typeface="Inter"/>
              </a:rPr>
              <a:t>Tự Động Hóa Chained Token, Đánh Giá Đặc Tả &amp; Phân Tích Khuyết Điểm (Postman)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7004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3C5FD"/>
                </a:solidFill>
                <a:latin typeface="Space Grotesk"/>
              </a:rPr>
              <a:t>CS423 / CSC15003 · Software Testing · Seminar T06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2450" y="2001291"/>
            <a:ext cx="36641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7414" y="2001291"/>
            <a:ext cx="1952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Nhóm 11 — FIT@HCMUS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250084"/>
            <a:ext cx="51911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8FAFC"/>
                </a:solidFill>
                <a:latin typeface="Inter"/>
              </a:rPr>
              <a:t>Hệ thống SUT: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Backend Node.js/Express + SQLite (ttbhanh/eshop-sut)</a:t>
            </a:r>
            <a:r>
              <a:t>
</a:t>
            </a:r>
            <a:r>
              <a:rPr b="1" sz="1200" i="0" u="none">
                <a:solidFill>
                  <a:srgbClr val="F8FAFC"/>
                </a:solidFill>
                <a:latin typeface="Inter"/>
              </a:rPr>
              <a:t>Quy mô: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68 Request chuẩn bị, 1 Request tổng hợp (118 Assertions)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24112"/>
            <a:ext cx="5372100" cy="2695426"/>
          </a:xfrm>
          <a:prstGeom prst="roundRect">
            <a:avLst>
              <a:gd name="adj" fmla="val 42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561332"/>
            <a:ext cx="5372100" cy="2421135"/>
          </a:xfrm>
          <a:prstGeom prst="roundRect">
            <a:avLst>
              <a:gd name="adj" fmla="val 47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1100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424112"/>
            <a:ext cx="53721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424112"/>
            <a:ext cx="9525" cy="269542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72175" y="2424112"/>
            <a:ext cx="9525" cy="269542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0300" y="4972942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0300" y="2561332"/>
            <a:ext cx="537210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0300" y="2561332"/>
            <a:ext cx="9525" cy="242113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72875" y="2561332"/>
            <a:ext cx="9525" cy="242113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776537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913757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Tổng Quan &amp; Phạm Vi Kiểm Thử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6825" y="2767012"/>
            <a:ext cx="131016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3A8A"/>
                </a:solidFill>
                <a:latin typeface="Inter"/>
              </a:rPr>
              <a:t>Mục Tiêu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3204210"/>
            <a:ext cx="95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425" y="3205162"/>
            <a:ext cx="4648200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Khảo sát hành vi thực tế so với 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api_specification.md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175" y="3867090"/>
            <a:ext cx="95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425" y="3868042"/>
            <a:ext cx="4648200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Xây dựng Postman Collection có assertion từng request.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175" y="4529970"/>
            <a:ext cx="95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425" y="4530923"/>
            <a:ext cx="5691187" cy="27429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Phát hiện điểm hệ thống vận hành sai lệch đặc tả.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7525" y="2904232"/>
            <a:ext cx="161270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64E63"/>
                </a:solidFill>
                <a:latin typeface="Inter"/>
              </a:rPr>
              <a:t>Phạm Vi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9875" y="3341429"/>
            <a:ext cx="95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5125" y="3342382"/>
            <a:ext cx="5476875" cy="27429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38 Request chính: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Chia thành 9 thư mục nghiệp vụ.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9875" y="3730019"/>
            <a:ext cx="95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5125" y="3730972"/>
            <a:ext cx="5476875" cy="27429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28 Request lỗi (Errors):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Kiểm thử các kịch bản 4xx/5xx.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9875" y="4118610"/>
            <a:ext cx="95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5125" y="4119562"/>
            <a:ext cx="4648200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2 Request Data-Driven: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Validation đăng nhập &amp; sản phẩm qua CSV.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19387"/>
            <a:ext cx="3530649" cy="2105025"/>
          </a:xfrm>
          <a:prstGeom prst="roundRect">
            <a:avLst>
              <a:gd name="adj" fmla="val 542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2733675"/>
            <a:ext cx="3530649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733675"/>
            <a:ext cx="3530649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Thiết Lập Postman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2995612"/>
            <a:ext cx="390888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1. Biến &amp; Chaining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376612"/>
            <a:ext cx="37227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Kế thừa dữ liệu động tự động: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6974" y="3009900"/>
            <a:ext cx="390888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2. Cơ Chế Xác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6974" y="3390900"/>
            <a:ext cx="37227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Quản lý phân quyền chặt chẽ: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8124" y="3009900"/>
            <a:ext cx="3863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3. Chiến Lược Assertion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8124" y="3390900"/>
            <a:ext cx="37227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Đánh giá dựa trên Spec: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3681412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3681412"/>
            <a:ext cx="3508437" cy="238125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E293B"/>
                </a:solidFill>
                <a:latin typeface="Inter"/>
              </a:rPr>
              <a:t>{{userToken}}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/ 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{{adminToken}}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3995737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3995737"/>
            <a:ext cx="3508437" cy="238125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E293B"/>
                </a:solidFill>
                <a:latin typeface="Inter"/>
              </a:rPr>
              <a:t>{{orderId}}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lưu từ Checkout.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4310062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4310062"/>
            <a:ext cx="3508437" cy="238125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E293B"/>
                </a:solidFill>
                <a:latin typeface="Inter"/>
              </a:rPr>
              <a:t>{{newProductId}}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tự cập nhật.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2699" y="3695700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8424" y="3695700"/>
            <a:ext cx="3508437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1E293B"/>
                </a:solidFill>
                <a:latin typeface="Inter"/>
              </a:rPr>
              <a:t>Cấp Collection: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Kế thừa Bearer Token.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2699" y="4000500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8424" y="4000500"/>
            <a:ext cx="3508437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1E293B"/>
                </a:solidFill>
                <a:latin typeface="Inter"/>
              </a:rPr>
              <a:t>Admin Auth: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Khai báo override.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2699" y="4305300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8424" y="4305300"/>
            <a:ext cx="3508437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1E293B"/>
                </a:solidFill>
                <a:latin typeface="Inter"/>
              </a:rPr>
              <a:t>No Auth: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Cho Public API.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3849" y="3695700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9574" y="3695700"/>
            <a:ext cx="3508437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1E293B"/>
                </a:solidFill>
                <a:latin typeface="Inter"/>
              </a:rPr>
              <a:t>Positive: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Cấu trúc, mã 200, logic.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3849" y="4000500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9574" y="4000500"/>
            <a:ext cx="3508437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1E293B"/>
                </a:solidFill>
                <a:latin typeface="Inter"/>
              </a:rPr>
              <a:t>Negative: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Kỳ vọng từ chối (401/403).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3849" y="4305300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9574" y="4305300"/>
            <a:ext cx="3508437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1E293B"/>
                </a:solidFill>
                <a:latin typeface="Inter"/>
              </a:rPr>
              <a:t>Đỏ = Lỗi: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Hệ thống lệch chuẩn.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57675" y="2888009"/>
            <a:ext cx="19050" cy="76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20025" y="2888009"/>
            <a:ext cx="19050" cy="76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381000" y="1968847"/>
            <a:ext cx="12954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Space Grotesk"/>
              </a:rPr>
              <a:t>Bộ Test Tổng Hợp (00 RUN ALL)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340572"/>
            <a:ext cx="9525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Sử dụng 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pm.sendRequest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trong script Post-response. Tự tạo dữ liệu (User, Product, Order) và dọn dẹp sạch sẽ vào cuối chu trình, cho phép chạy lặp lại liên tục.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4950" y="2730847"/>
            <a:ext cx="238125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2563EB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4950" y="3607147"/>
            <a:ext cx="238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64748B"/>
                </a:solidFill>
                <a:latin typeface="Inter"/>
              </a:rPr>
              <a:t>BẤM CHẠY DUY NHẤT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5812" y="2730847"/>
            <a:ext cx="290512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Inter"/>
              </a:rPr>
              <a:t>201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5812" y="3607147"/>
            <a:ext cx="2905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64748B"/>
                </a:solidFill>
                <a:latin typeface="Inter"/>
              </a:rPr>
              <a:t>LỜI GỌI NGẦM (REQUESTS)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8643" y="2730847"/>
            <a:ext cx="2500312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Inter"/>
              </a:rPr>
              <a:t>118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643" y="3607147"/>
            <a:ext cx="2500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64748B"/>
                </a:solidFill>
                <a:latin typeface="Inter"/>
              </a:rPr>
              <a:t>ASSERTIONS KIỂM TRA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43000"/>
            <a:ext cx="5686425" cy="5257800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24625" y="1143000"/>
            <a:ext cx="5057775" cy="2533650"/>
          </a:xfrm>
          <a:prstGeom prst="roundRect">
            <a:avLst>
              <a:gd name="adj" fmla="val 300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24625" y="3867150"/>
            <a:ext cx="5057775" cy="2533650"/>
          </a:xfrm>
          <a:prstGeom prst="roundRect">
            <a:avLst>
              <a:gd name="adj" fmla="val 3007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24625" y="3667125"/>
            <a:ext cx="5057775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24625" y="1143000"/>
            <a:ext cx="5057775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24625" y="1143000"/>
            <a:ext cx="57150" cy="253365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72875" y="1143000"/>
            <a:ext cx="9525" cy="2533650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24625" y="6391275"/>
            <a:ext cx="5057775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24625" y="3867150"/>
            <a:ext cx="5057775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24625" y="3867150"/>
            <a:ext cx="57150" cy="25336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72875" y="3867150"/>
            <a:ext cx="9525" cy="2533650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Tổng Kết Kết Quả Kiểm Thử (Collection 38 Requests)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0287" y="2943225"/>
            <a:ext cx="288131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75569"/>
                </a:solidFill>
                <a:latin typeface="Inter"/>
              </a:rPr>
              <a:t>Tổng số lỗi phát hiện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737" y="3333750"/>
            <a:ext cx="1500187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b="1" sz="7200" i="0" u="none">
                <a:solidFill>
                  <a:srgbClr val="EF4444"/>
                </a:solidFill>
                <a:latin typeface="Inter"/>
              </a:rPr>
              <a:t>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7000" y="4400550"/>
            <a:ext cx="1964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(Mã lỗi B1 đến B33)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0" y="2128837"/>
            <a:ext cx="866775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6A34A"/>
                </a:solidFill>
                <a:latin typeface="Inter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9450" y="4852987"/>
            <a:ext cx="790575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DC2626"/>
                </a:solidFill>
                <a:latin typeface="Inter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0375" y="2138362"/>
            <a:ext cx="271283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6534"/>
                </a:solidFill>
                <a:latin typeface="Inter"/>
              </a:rPr>
              <a:t>Đạt Đặc Tả (PASS)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0375" y="2490787"/>
            <a:ext cx="2583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5803D"/>
                </a:solidFill>
                <a:latin typeface="Inter"/>
              </a:rPr>
              <a:t>Chức năng chuẩn xác.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5" y="4862512"/>
            <a:ext cx="307538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9F1239"/>
                </a:solidFill>
                <a:latin typeface="Inter"/>
              </a:rPr>
              <a:t>Lệch Đặc Tả (FAIL)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0375" y="5214937"/>
            <a:ext cx="2928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B91C1C"/>
                </a:solidFill>
                <a:latin typeface="Inter"/>
              </a:rPr>
              <a:t>17 Assertion đỏ ở Request chính.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04900"/>
            <a:ext cx="10972800" cy="819150"/>
          </a:xfrm>
          <a:prstGeom prst="roundRect">
            <a:avLst>
              <a:gd name="adj" fmla="val 9302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76450"/>
            <a:ext cx="10972800" cy="819150"/>
          </a:xfrm>
          <a:prstGeom prst="roundRect">
            <a:avLst>
              <a:gd name="adj" fmla="val 9302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048000"/>
            <a:ext cx="10972800" cy="819150"/>
          </a:xfrm>
          <a:prstGeom prst="roundRect">
            <a:avLst>
              <a:gd name="adj" fmla="val 9302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019550"/>
            <a:ext cx="10972800" cy="819150"/>
          </a:xfrm>
          <a:prstGeom prst="roundRect">
            <a:avLst>
              <a:gd name="adj" fmla="val 9302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914525"/>
            <a:ext cx="10972800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104900"/>
            <a:ext cx="38100" cy="8191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72875" y="1104900"/>
            <a:ext cx="9525" cy="819150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886075"/>
            <a:ext cx="10972800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2076450"/>
            <a:ext cx="10972800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2076450"/>
            <a:ext cx="38100" cy="8191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72875" y="2076450"/>
            <a:ext cx="9525" cy="819150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3857625"/>
            <a:ext cx="10972800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3048000"/>
            <a:ext cx="10972800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3048000"/>
            <a:ext cx="38100" cy="8191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72875" y="3048000"/>
            <a:ext cx="9525" cy="819150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4829175"/>
            <a:ext cx="10972800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4019550"/>
            <a:ext cx="10972800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4019550"/>
            <a:ext cx="38100" cy="8191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72875" y="4019550"/>
            <a:ext cx="9525" cy="819150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Nhóm Lỗi Nghiêm Trọng (Bảo Mật &amp; Phân Quyền)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1266825"/>
            <a:ext cx="11353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91C1C"/>
                </a:solidFill>
                <a:latin typeface="Inter"/>
              </a:rPr>
              <a:t>B1 &amp; B2: Lộ Lọt Dữ Liệu Nhạy Cảm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571625"/>
            <a:ext cx="113538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API Đăng nhập và Hồ sơ trả về 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password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(chữ thường) và 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reset_token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trong JSON Response.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238375"/>
            <a:ext cx="11353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91C1C"/>
                </a:solidFill>
                <a:latin typeface="Inter"/>
              </a:rPr>
              <a:t>B5 &amp; B24: Hỏng Phân Quyền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543175"/>
            <a:ext cx="113538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Người dùng thường có thể gọi API quản trị (VD: lấy danh sách User, xóa sản phẩm) mà không bị 403.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209925"/>
            <a:ext cx="11353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91C1C"/>
                </a:solidFill>
                <a:latin typeface="Inter"/>
              </a:rPr>
              <a:t>B6: Hỏng Xác Thực Truy Cập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514725"/>
            <a:ext cx="113538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Xem chi tiết đơn hàng không cần gửi Token (No Auth) vẫn lấy được toàn bộ dữ liệu.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4181475"/>
            <a:ext cx="11353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91C1C"/>
                </a:solidFill>
                <a:latin typeface="Inter"/>
              </a:rPr>
              <a:t>B17: Tấn Công SQL Injection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4486275"/>
            <a:ext cx="113538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Tìm kiếm sản phẩm với 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'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làm sập server; 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zzz' OR 1=1 --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lấy toàn bộ 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4656"/>
            <a:ext cx="3505200" cy="1576387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64656"/>
            <a:ext cx="3505200" cy="1576387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64656"/>
            <a:ext cx="3505200" cy="1576387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531518"/>
            <a:ext cx="3505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964656"/>
            <a:ext cx="35052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964656"/>
            <a:ext cx="9525" cy="1576387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05275" y="2964656"/>
            <a:ext cx="9525" cy="1576387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4531518"/>
            <a:ext cx="3505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964656"/>
            <a:ext cx="35052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964656"/>
            <a:ext cx="9525" cy="1576387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9075" y="2964656"/>
            <a:ext cx="9525" cy="1576387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7200" y="4531518"/>
            <a:ext cx="3505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2964656"/>
            <a:ext cx="35052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2964656"/>
            <a:ext cx="9525" cy="1576387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875" y="2964656"/>
            <a:ext cx="9525" cy="1576387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Nhóm Lỗi Logic Nghiệp Vụ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231356"/>
            <a:ext cx="39754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45309"/>
                </a:solidFill>
                <a:latin typeface="Inter"/>
              </a:rPr>
              <a:t>B4: Tính Giá Trị Mã Giảm Giá Sai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574256"/>
            <a:ext cx="31242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Đơn 1 triệu giảm 10% (100k) lại trả về giá trị âm (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discount_amount = -9,000,000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). Tổng tiền thành 10 triệu.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525" y="3231356"/>
            <a:ext cx="39754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45309"/>
                </a:solidFill>
                <a:latin typeface="Inter"/>
              </a:rPr>
              <a:t>B13: Thanh Toán Giỏ Trống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525" y="3574256"/>
            <a:ext cx="31242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Hệ thống không kiểm tra tổng tiền và giỏ hàng. Giỏ trống gửi giá 1,000đ vẫn chốt đơn thành công.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325" y="3231356"/>
            <a:ext cx="38766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45309"/>
                </a:solidFill>
                <a:latin typeface="Inter"/>
              </a:rPr>
              <a:t>B20: Giỏ Không Xóa Sau Mua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5325" y="3574256"/>
            <a:ext cx="31242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Sau khi tạo đơn hàng thành công, giỏ hàng cũ vẫn còn nguyên trạng thái và dữ liệu.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04900"/>
            <a:ext cx="5391150" cy="866775"/>
          </a:xfrm>
          <a:prstGeom prst="roundRect">
            <a:avLst>
              <a:gd name="adj" fmla="val 87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1104900"/>
            <a:ext cx="5391150" cy="866775"/>
          </a:xfrm>
          <a:prstGeom prst="roundRect">
            <a:avLst>
              <a:gd name="adj" fmla="val 87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162175"/>
            <a:ext cx="5391150" cy="866775"/>
          </a:xfrm>
          <a:prstGeom prst="roundRect">
            <a:avLst>
              <a:gd name="adj" fmla="val 87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162175"/>
            <a:ext cx="5391150" cy="866775"/>
          </a:xfrm>
          <a:prstGeom prst="roundRect">
            <a:avLst>
              <a:gd name="adj" fmla="val 87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Nhóm Lỗi Validation Định Dạng &amp; Đầu Vào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1304925"/>
            <a:ext cx="65508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B11: Sản Phẩm Thiếu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581150"/>
            <a:ext cx="623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API tạo sản phẩm chấp nhận Body rỗng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{}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, trả 200.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275" y="1304925"/>
            <a:ext cx="5800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B31: Chấp Nhận Giá Âm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275" y="1581150"/>
            <a:ext cx="58007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Tạo sản phẩm với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price: -50000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vẫn báo "Product created".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362200"/>
            <a:ext cx="65508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B9 &amp; B10: Validation Đăng Ký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638425"/>
            <a:ext cx="623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Tạo được nhiều tài khoản trùng Email hoặc Body rỗng.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275" y="2362200"/>
            <a:ext cx="5800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B28: Yếu Điểm OTP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2638425"/>
            <a:ext cx="58007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Mã khôi phục chỉ có 4 chữ số thay vì 6 như đặc tả FR-03.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4362" y="1562100"/>
            <a:ext cx="274081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5181" y="1562100"/>
            <a:ext cx="274081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0" y="1562100"/>
            <a:ext cx="274081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6818" y="1562100"/>
            <a:ext cx="274081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1066800"/>
            <a:ext cx="10972800" cy="25812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1066800"/>
          <a:ext cx="10963272" cy="25812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40818"/>
                <a:gridCol w="2740818"/>
                <a:gridCol w="2740818"/>
                <a:gridCol w="2740818"/>
              </a:tblGrid>
              <a:tr h="5162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Hạng Mục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Đặc Tả (Spec/SRS)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App Mobile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Backend Thực Tế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0000"/>
                          </a:solidFill>
                          <a:latin typeface="Inter"/>
                        </a:rPr>
                        <a:t>Checkout Body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total_amount, shipping_address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Không gửi </a:t>
                      </a:r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shipping_address</a:t>
                      </a:r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45309"/>
                          </a:solidFill>
                          <a:latin typeface="Inter"/>
                        </a:rPr>
                        <a:t>Chấp nhận cả 2; đơn Mobile bị </a:t>
                      </a:r>
                      <a:r>
                        <a:rPr b="0" sz="1200" i="0" u="none">
                          <a:solidFill>
                            <a:srgbClr val="B45309"/>
                          </a:solidFill>
                          <a:latin typeface="Inter"/>
                        </a:rPr>
                        <a:t>null</a:t>
                      </a:r>
                      <a:r>
                        <a:rPr b="0" sz="1200" i="0" u="none">
                          <a:solidFill>
                            <a:srgbClr val="B45309"/>
                          </a:solidFill>
                          <a:latin typeface="Inter"/>
                        </a:rPr>
                        <a:t> địa chỉ.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0000"/>
                          </a:solidFill>
                          <a:latin typeface="Inter"/>
                        </a:rPr>
                        <a:t>Khóa Tài Khoản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Sai 3 lần, khóa 30 giây.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-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45309"/>
                          </a:solidFill>
                          <a:latin typeface="Inter"/>
                        </a:rPr>
                        <a:t>Sai 2 lần, khóa 3 phút (B27).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0000"/>
                          </a:solidFill>
                          <a:latin typeface="Inter"/>
                        </a:rPr>
                        <a:t>Token: Apply Coupon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Cần đăng nhập (SRS).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Không gửi token.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45309"/>
                          </a:solidFill>
                          <a:latin typeface="Inter"/>
                        </a:rPr>
                        <a:t>Không yêu cầu token (B26).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0000"/>
                          </a:solidFill>
                          <a:latin typeface="Inter"/>
                        </a:rPr>
                        <a:t>Giỏ Hàng (Cart API)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Yêu cầu có API Giỏ.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Lưu giỏ Offline trong App.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Có API chạy độc lập.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Mâu Thuẫn: Đặc Tả vs App Mobile vs Backend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104900"/>
            <a:ext cx="5353050" cy="52959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29350" y="1104900"/>
            <a:ext cx="5353050" cy="52959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04900"/>
            <a:ext cx="38100" cy="52959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29350" y="1104900"/>
            <a:ext cx="38100" cy="52959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Phân Tích Kiến Trúc &amp; Hạn Chế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333500"/>
            <a:ext cx="63757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Inter"/>
              </a:rPr>
              <a:t>Thiết Kế Backend Yếu Khém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6050" y="1333500"/>
            <a:ext cx="56959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Inter"/>
              </a:rPr>
              <a:t>Vấn Đề Dữ Liệu Bộ Nhớ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715452"/>
            <a:ext cx="95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1714500"/>
            <a:ext cx="5834062" cy="25896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Mọi lỗi lệch đặc tả đều trả 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HTTP 200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2088713"/>
            <a:ext cx="95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2087760"/>
            <a:ext cx="5834062" cy="25896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JWT thiếu thời hạn (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exp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2461974"/>
            <a:ext cx="95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2461021"/>
            <a:ext cx="5834062" cy="25896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Key mã hóa lộ liễu: 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SECRET_KEY = "super_secret..."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1715452"/>
            <a:ext cx="95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6550" y="1714500"/>
            <a:ext cx="5505450" cy="25896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Server xóa và nạp lại DB mỗi khi khởi động.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300" y="2088713"/>
            <a:ext cx="95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6550" y="2087760"/>
            <a:ext cx="5505450" cy="25896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Bộ test tổng hợp sinh nhiều rác nếu chạy lỗi.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300" y="2461974"/>
            <a:ext cx="95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6550" y="2461021"/>
            <a:ext cx="5505450" cy="25896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Bắt buộc 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Restart Server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để tái lập môi trường sạch.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59583"/>
            <a:ext cx="5305425" cy="1900832"/>
          </a:xfrm>
          <a:prstGeom prst="roundRect">
            <a:avLst>
              <a:gd name="adj" fmla="val 601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57925" y="2869108"/>
            <a:ext cx="5324475" cy="188178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57925" y="2869108"/>
            <a:ext cx="38100" cy="188178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097583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Space Grotesk"/>
              </a:rPr>
              <a:t>Hướng Dẫn Tái Lập &amp; Kết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135808"/>
            <a:ext cx="623827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Inter"/>
              </a:rPr>
              <a:t>Cách Tái Tạp Kết Quả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135808"/>
            <a:ext cx="56292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0A5FA"/>
                </a:solidFill>
                <a:latin typeface="Inter"/>
              </a:rPr>
              <a:t>Bước Tiếp Theo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075" y="3517761"/>
            <a:ext cx="95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516808"/>
            <a:ext cx="5703093" cy="25896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Chạy Backend: 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node server.js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" y="3871972"/>
            <a:ext cx="95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871019"/>
            <a:ext cx="5703093" cy="25896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Import JSON vào Postman Desktop.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4226182"/>
            <a:ext cx="95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4225230"/>
            <a:ext cx="5703093" cy="25896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Chạy request 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00 RUN ALL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7975" y="3517761"/>
            <a:ext cx="95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3516808"/>
            <a:ext cx="5438775" cy="25896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Tích hợp CI/CD qua </a:t>
            </a:r>
            <a:r>
              <a:rPr b="1" sz="1275" i="0" u="none">
                <a:solidFill>
                  <a:srgbClr val="CBD5E1"/>
                </a:solidFill>
                <a:latin typeface="Inter"/>
              </a:rPr>
              <a:t>Newman HTML Report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7975" y="3871972"/>
            <a:ext cx="95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3225" y="3871019"/>
            <a:ext cx="5438775" cy="25896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Xây dựng hợp đồng Pact JS bảo vệ Mobile.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7975" y="4226182"/>
            <a:ext cx="95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3225" y="4225230"/>
            <a:ext cx="5438775" cy="25896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Fix Backend theo API Spec chuẩn.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