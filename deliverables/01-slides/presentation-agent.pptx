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Lst>
  <ns0:sldSz cx="12192000" cy="6858000" type="screen4x3"/>
  <ns0:notesSz cx="6858000" cy="9144000"/>
  <ns0:embeddedFontLst>
    <ns0:embeddedFont>
      <ns0:font typeface="Inter"/>
      <ns0:bold ns1:id="rIdFont16"/>
      <ns0:regular ns1:id="rIdFont17"/>
    </ns0:embeddedFont>
    <ns0:embeddedFont>
      <ns0:font typeface="Space Grotesk"/>
      <ns0:bold ns1:id="rIdFont18"/>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Font16" Type="http://schemas.openxmlformats.org/officeDocument/2006/relationships/font" Target="fonts/643bea66-f1e3-40d5-9500-19607118ba45.fntdata" /><ns0:Relationship Id="rIdFont17" Type="http://schemas.openxmlformats.org/officeDocument/2006/relationships/font" Target="fonts/b6795d29-d304-4a95-a7d6-e846bfdcffaa.fntdata" /><ns0:Relationship Id="rIdFont18" Type="http://schemas.openxmlformats.org/officeDocument/2006/relationships/font" Target="fonts/5d1703cb-4696-4401-bed7-1651063ad902.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09600" y="3910012"/>
            <a:ext cx="9144000" cy="8685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079426"/>
            <a:ext cx="3000375" cy="304800"/>
          </a:xfrm>
          <a:prstGeom prst="roundRect">
            <a:avLst>
              <a:gd name="adj" fmla="val 50000"/>
            </a:avLst>
          </a:prstGeom>
          <a:solidFill>
            <a:srgbClr val="132651"/>
          </a:solidFill>
          <a:ln w="952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3910012"/>
            <a:ext cx="38100" cy="868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2612826"/>
            <a:ext cx="11582400" cy="525660"/>
          </a:xfrm>
          <a:prstGeom prst="rect">
            <a:avLst/>
          </a:prstGeom>
          <a:noFill/>
        </p:spPr>
        <p:txBody>
          <a:bodyPr wrap="none" lIns="0" rIns="0" tIns="0" bIns="0" anchor="t">
            <a:spAutoFit/>
          </a:bodyPr>
          <a:lstStyle/>
          <a:p>
            <a:pPr algn="l">
              <a:lnSpc>
                <a:spcPts val="4140"/>
              </a:lnSpc>
            </a:pPr>
            <a:r>
              <a:rPr b="1" sz="3450" i="0" u="none">
                <a:solidFill>
                  <a:srgbClr val="F8FAFC"/>
                </a:solidFill>
                <a:latin typeface="Space Grotesk"/>
              </a:rPr>
              <a:t>ĐÁNH GIÁ BỘ SKILL API-TEST-DESIGN</a:t>
            </a:r>
          </a:p>
        </p:txBody>
      </p:sp>
      <p:sp>
        <p:nvSpPr>
          <p:cNvPr id="6" name="TextBox 5"/>
          <p:cNvSpPr txBox="1"/>
          <p:nvPr/>
        </p:nvSpPr>
        <p:spPr>
          <a:xfrm>
            <a:off x="609600" y="3290887"/>
            <a:ext cx="11251406" cy="276225"/>
          </a:xfrm>
          <a:prstGeom prst="rect">
            <a:avLst/>
          </a:prstGeom>
          <a:noFill/>
        </p:spPr>
        <p:txBody>
          <a:bodyPr wrap="none" lIns="0" rIns="0" tIns="0" bIns="0" anchor="t">
            <a:spAutoFit/>
          </a:bodyPr>
          <a:lstStyle/>
          <a:p>
            <a:pPr algn="l"/>
            <a:r>
              <a:rPr b="0" sz="1800" i="0" u="none">
                <a:solidFill>
                  <a:srgbClr val="60A5FA"/>
                </a:solidFill>
                <a:latin typeface="Inter"/>
              </a:rPr>
              <a:t>Sử dụng Antigravity &amp; Gemini 3.8 Flash sinh Karate Feature tự động</a:t>
            </a:r>
          </a:p>
        </p:txBody>
      </p:sp>
      <p:sp>
        <p:nvSpPr>
          <p:cNvPr id="7" name="TextBox 6"/>
          <p:cNvSpPr txBox="1"/>
          <p:nvPr/>
        </p:nvSpPr>
        <p:spPr>
          <a:xfrm>
            <a:off x="762000" y="2136576"/>
            <a:ext cx="2790825" cy="190500"/>
          </a:xfrm>
          <a:prstGeom prst="rect">
            <a:avLst/>
          </a:prstGeom>
          <a:noFill/>
        </p:spPr>
        <p:txBody>
          <a:bodyPr wrap="square" lIns="0" rIns="0" tIns="0" bIns="0" anchor="t">
            <a:spAutoFit/>
          </a:bodyPr>
          <a:lstStyle/>
          <a:p>
            <a:pPr algn="l"/>
            <a:r>
              <a:rPr b="1" sz="1050" i="0" u="none">
                <a:solidFill>
                  <a:srgbClr val="93C5FD"/>
                </a:solidFill>
                <a:latin typeface="Space Grotesk"/>
              </a:rPr>
              <a:t>AI Test Automation · Workflow Evaluation</a:t>
            </a:r>
          </a:p>
        </p:txBody>
      </p:sp>
      <p:sp>
        <p:nvSpPr>
          <p:cNvPr id="8" name="TextBox 7"/>
          <p:cNvSpPr txBox="1"/>
          <p:nvPr/>
        </p:nvSpPr>
        <p:spPr>
          <a:xfrm>
            <a:off x="3724275" y="2150864"/>
            <a:ext cx="366414" cy="161925"/>
          </a:xfrm>
          <a:prstGeom prst="rect">
            <a:avLst/>
          </a:prstGeom>
          <a:noFill/>
        </p:spPr>
        <p:txBody>
          <a:bodyPr wrap="none" lIns="0" rIns="0" tIns="0" bIns="0" anchor="t">
            <a:spAutoFit/>
          </a:bodyPr>
          <a:lstStyle/>
          <a:p>
            <a:pPr algn="l"/>
            <a:r>
              <a:rPr b="0" sz="1050" i="0" u="none">
                <a:solidFill>
                  <a:srgbClr val="64748B"/>
                </a:solidFill>
                <a:latin typeface="Inter"/>
              </a:rPr>
              <a:t>●</a:t>
            </a:r>
          </a:p>
        </p:txBody>
      </p:sp>
      <p:sp>
        <p:nvSpPr>
          <p:cNvPr id="9" name="TextBox 8"/>
          <p:cNvSpPr txBox="1"/>
          <p:nvPr/>
        </p:nvSpPr>
        <p:spPr>
          <a:xfrm>
            <a:off x="3919239" y="2150864"/>
            <a:ext cx="1809750" cy="161925"/>
          </a:xfrm>
          <a:prstGeom prst="rect">
            <a:avLst/>
          </a:prstGeom>
          <a:noFill/>
        </p:spPr>
        <p:txBody>
          <a:bodyPr wrap="none" lIns="0" rIns="0" tIns="0" bIns="0" anchor="t">
            <a:spAutoFit/>
          </a:bodyPr>
          <a:lstStyle/>
          <a:p>
            <a:pPr algn="l"/>
            <a:r>
              <a:rPr b="0" sz="1050" i="0" u="none">
                <a:solidFill>
                  <a:srgbClr val="94A3B8"/>
                </a:solidFill>
                <a:latin typeface="Inter"/>
              </a:rPr>
              <a:t>run-01-coupon (FR-09)</a:t>
            </a:r>
          </a:p>
        </p:txBody>
      </p:sp>
      <p:sp>
        <p:nvSpPr>
          <p:cNvPr id="10" name="TextBox 9"/>
          <p:cNvSpPr txBox="1"/>
          <p:nvPr/>
        </p:nvSpPr>
        <p:spPr>
          <a:xfrm>
            <a:off x="876300" y="4100512"/>
            <a:ext cx="5715000" cy="487560"/>
          </a:xfrm>
          <a:prstGeom prst="rect">
            <a:avLst/>
          </a:prstGeom>
          <a:noFill/>
        </p:spPr>
        <p:txBody>
          <a:bodyPr wrap="square" lIns="0" rIns="0" tIns="0" bIns="0" anchor="t">
            <a:spAutoFit/>
          </a:bodyPr>
          <a:lstStyle/>
          <a:p>
            <a:pPr algn="l">
              <a:lnSpc>
                <a:spcPts val="1920"/>
              </a:lnSpc>
            </a:pPr>
            <a:r>
              <a:rPr b="1" sz="1200" i="0" u="none">
                <a:solidFill>
                  <a:srgbClr val="F8FAFC"/>
                </a:solidFill>
                <a:latin typeface="Inter"/>
              </a:rPr>
              <a:t>Người thực hiện:</a:t>
            </a:r>
            <a:r>
              <a:rPr b="0" sz="1200" i="0" u="none">
                <a:solidFill>
                  <a:srgbClr val="CBD5E1"/>
                </a:solidFill>
                <a:latin typeface="Inter"/>
              </a:rPr>
              <a:t> Hà Quốc Kiên</a:t>
            </a:r>
            <a:r>
              <a:t>
</a:t>
            </a:r>
            <a:r>
              <a:rPr b="1" sz="1200" i="0" u="none">
                <a:solidFill>
                  <a:srgbClr val="F8FAFC"/>
                </a:solidFill>
                <a:latin typeface="Inter"/>
              </a:rPr>
              <a:t>Phạm vi mục tiêu:</a:t>
            </a:r>
            <a:r>
              <a:rPr b="0" sz="1200" i="0" u="none">
                <a:solidFill>
                  <a:srgbClr val="CBD5E1"/>
                </a:solidFill>
                <a:latin typeface="Inter"/>
              </a:rPr>
              <a:t> FR-09 (Mã giảm giá EShop) · So sánh với Baseline Postman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847975"/>
            <a:ext cx="10972800" cy="495300"/>
          </a:xfrm>
          <a:prstGeom prst="roundRect">
            <a:avLst>
              <a:gd name="adj" fmla="val 1538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82200" y="509587"/>
            <a:ext cx="1600200" cy="276225"/>
          </a:xfrm>
          <a:prstGeom prst="roundRect">
            <a:avLst>
              <a:gd name="adj" fmla="val 20689"/>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1295400"/>
            <a:ext cx="2072580" cy="1066800"/>
          </a:xfrm>
          <a:prstGeom prst="roundRect">
            <a:avLst>
              <a:gd name="adj" fmla="val 714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834580" y="1295400"/>
            <a:ext cx="2072580" cy="1066800"/>
          </a:xfrm>
          <a:prstGeom prst="roundRect">
            <a:avLst>
              <a:gd name="adj" fmla="val 714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59560" y="1295400"/>
            <a:ext cx="2072580" cy="1066800"/>
          </a:xfrm>
          <a:prstGeom prst="roundRect">
            <a:avLst>
              <a:gd name="adj" fmla="val 7142"/>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84541" y="1295400"/>
            <a:ext cx="2072580" cy="1247775"/>
          </a:xfrm>
          <a:prstGeom prst="roundRect">
            <a:avLst>
              <a:gd name="adj" fmla="val 610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509521" y="1295400"/>
            <a:ext cx="2072580" cy="1247775"/>
          </a:xfrm>
          <a:prstGeom prst="roundRect">
            <a:avLst>
              <a:gd name="adj" fmla="val 610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600" y="2352675"/>
            <a:ext cx="20725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1295400"/>
            <a:ext cx="2072580" cy="381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1295400"/>
            <a:ext cx="9525" cy="10668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72655" y="1295400"/>
            <a:ext cx="9525" cy="10668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34580" y="2352675"/>
            <a:ext cx="20725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34580" y="1295400"/>
            <a:ext cx="20725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580" y="1295400"/>
            <a:ext cx="9525" cy="10668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97635" y="1295400"/>
            <a:ext cx="9525" cy="10668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829151" y="1219200"/>
            <a:ext cx="533400" cy="1714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59560" y="2352675"/>
            <a:ext cx="2072580" cy="9525"/>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59560" y="1295400"/>
            <a:ext cx="207258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59560" y="1295400"/>
            <a:ext cx="9525" cy="10668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22616" y="1295400"/>
            <a:ext cx="9525" cy="10668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84541" y="2533650"/>
            <a:ext cx="20725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4541" y="1295400"/>
            <a:ext cx="207258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84541" y="1295400"/>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347596" y="1295400"/>
            <a:ext cx="9525" cy="124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269587" y="1219200"/>
            <a:ext cx="552450" cy="1714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09521" y="2533650"/>
            <a:ext cx="2072580" cy="9525"/>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9521" y="1295400"/>
            <a:ext cx="207258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9521" y="1295400"/>
            <a:ext cx="9525" cy="1247775"/>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572577" y="1295400"/>
            <a:ext cx="9525" cy="1247775"/>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600" y="457200"/>
            <a:ext cx="7313414" cy="381000"/>
          </a:xfrm>
          <a:prstGeom prst="rect">
            <a:avLst/>
          </a:prstGeom>
          <a:noFill/>
        </p:spPr>
        <p:txBody>
          <a:bodyPr wrap="none" lIns="0" rIns="0" tIns="0" bIns="0" anchor="t">
            <a:spAutoFit/>
          </a:bodyPr>
          <a:lstStyle/>
          <a:p>
            <a:pPr algn="l"/>
            <a:r>
              <a:rPr b="1" sz="2400" i="0" u="none">
                <a:solidFill>
                  <a:srgbClr val="0F172A"/>
                </a:solidFill>
                <a:latin typeface="Space Grotesk"/>
              </a:rPr>
              <a:t>Quy Trình Sinh Test AI Có Người Duyệt</a:t>
            </a:r>
          </a:p>
        </p:txBody>
      </p:sp>
      <p:sp>
        <p:nvSpPr>
          <p:cNvPr id="32" name="TextBox 31"/>
          <p:cNvSpPr txBox="1"/>
          <p:nvPr/>
        </p:nvSpPr>
        <p:spPr>
          <a:xfrm>
            <a:off x="10115550" y="566737"/>
            <a:ext cx="1428750" cy="161925"/>
          </a:xfrm>
          <a:prstGeom prst="rect">
            <a:avLst/>
          </a:prstGeom>
          <a:noFill/>
        </p:spPr>
        <p:txBody>
          <a:bodyPr wrap="square" lIns="0" rIns="0" tIns="0" bIns="0" anchor="t">
            <a:spAutoFit/>
          </a:bodyPr>
          <a:lstStyle/>
          <a:p>
            <a:pPr algn="l"/>
            <a:r>
              <a:rPr b="1" sz="1050" i="0" u="none">
                <a:solidFill>
                  <a:srgbClr val="475569"/>
                </a:solidFill>
                <a:latin typeface="Inter"/>
              </a:rPr>
              <a:t>Human-in-the-Loop</a:t>
            </a:r>
          </a:p>
        </p:txBody>
      </p:sp>
      <p:sp>
        <p:nvSpPr>
          <p:cNvPr id="33" name="TextBox 32"/>
          <p:cNvSpPr txBox="1"/>
          <p:nvPr/>
        </p:nvSpPr>
        <p:spPr>
          <a:xfrm>
            <a:off x="-285750" y="3000375"/>
            <a:ext cx="12763500" cy="190500"/>
          </a:xfrm>
          <a:prstGeom prst="rect">
            <a:avLst/>
          </a:prstGeom>
          <a:noFill/>
        </p:spPr>
        <p:txBody>
          <a:bodyPr wrap="none" lIns="0" rIns="0" tIns="0" bIns="0" anchor="t">
            <a:spAutoFit/>
          </a:bodyPr>
          <a:lstStyle/>
          <a:p>
            <a:pPr algn="ctr"/>
            <a:r>
              <a:rPr b="1" sz="1200" i="0" u="none">
                <a:solidFill>
                  <a:srgbClr val="334155"/>
                </a:solidFill>
                <a:latin typeface="Inter"/>
              </a:rPr>
              <a:t>Quy tắc cốt lõi:</a:t>
            </a:r>
            <a:r>
              <a:rPr b="0" sz="1200" i="0" u="none">
                <a:solidFill>
                  <a:srgbClr val="334155"/>
                </a:solidFill>
                <a:latin typeface="Inter"/>
              </a:rPr>
              <a:t> Kỳ vọng chỉ lấy từ SRS/OpenAPI. Không bịa dữ liệu. Không sửa test sai thành xanh để lách luật.</a:t>
            </a:r>
          </a:p>
        </p:txBody>
      </p:sp>
      <p:sp>
        <p:nvSpPr>
          <p:cNvPr id="34" name="TextBox 33"/>
          <p:cNvSpPr txBox="1"/>
          <p:nvPr/>
        </p:nvSpPr>
        <p:spPr>
          <a:xfrm>
            <a:off x="600558" y="1524000"/>
            <a:ext cx="2090663" cy="200025"/>
          </a:xfrm>
          <a:prstGeom prst="rect">
            <a:avLst/>
          </a:prstGeom>
          <a:noFill/>
        </p:spPr>
        <p:txBody>
          <a:bodyPr wrap="none" lIns="0" rIns="0" tIns="0" bIns="0" anchor="t">
            <a:spAutoFit/>
          </a:bodyPr>
          <a:lstStyle/>
          <a:p>
            <a:pPr algn="ctr"/>
            <a:r>
              <a:rPr b="1" sz="1350" i="0" u="none">
                <a:solidFill>
                  <a:srgbClr val="334155"/>
                </a:solidFill>
                <a:latin typeface="Inter"/>
              </a:rPr>
              <a:t>Pha 1</a:t>
            </a:r>
          </a:p>
        </p:txBody>
      </p:sp>
      <p:sp>
        <p:nvSpPr>
          <p:cNvPr id="35" name="TextBox 34"/>
          <p:cNvSpPr txBox="1"/>
          <p:nvPr/>
        </p:nvSpPr>
        <p:spPr>
          <a:xfrm>
            <a:off x="600558" y="1800225"/>
            <a:ext cx="2090663" cy="361950"/>
          </a:xfrm>
          <a:prstGeom prst="rect">
            <a:avLst/>
          </a:prstGeom>
          <a:noFill/>
        </p:spPr>
        <p:txBody>
          <a:bodyPr wrap="square" lIns="0" rIns="0" tIns="0" bIns="0" anchor="t">
            <a:spAutoFit/>
          </a:bodyPr>
          <a:lstStyle/>
          <a:p>
            <a:pPr algn="ctr"/>
            <a:r>
              <a:rPr b="0" sz="1125" i="0" u="none">
                <a:solidFill>
                  <a:srgbClr val="475569"/>
                </a:solidFill>
                <a:latin typeface="Inter"/>
              </a:rPr>
              <a:t>Đọc tài liệu Spec/SRS, rút quy tắc nghiệp vụ.</a:t>
            </a:r>
          </a:p>
        </p:txBody>
      </p:sp>
      <p:sp>
        <p:nvSpPr>
          <p:cNvPr id="36" name="TextBox 35"/>
          <p:cNvSpPr txBox="1"/>
          <p:nvPr/>
        </p:nvSpPr>
        <p:spPr>
          <a:xfrm>
            <a:off x="2825539" y="1524000"/>
            <a:ext cx="2090663" cy="200025"/>
          </a:xfrm>
          <a:prstGeom prst="rect">
            <a:avLst/>
          </a:prstGeom>
          <a:noFill/>
        </p:spPr>
        <p:txBody>
          <a:bodyPr wrap="none" lIns="0" rIns="0" tIns="0" bIns="0" anchor="t">
            <a:spAutoFit/>
          </a:bodyPr>
          <a:lstStyle/>
          <a:p>
            <a:pPr algn="ctr"/>
            <a:r>
              <a:rPr b="1" sz="1350" i="0" u="none">
                <a:solidFill>
                  <a:srgbClr val="1D4ED8"/>
                </a:solidFill>
                <a:latin typeface="Inter"/>
              </a:rPr>
              <a:t>Pha 2</a:t>
            </a:r>
          </a:p>
        </p:txBody>
      </p:sp>
      <p:sp>
        <p:nvSpPr>
          <p:cNvPr id="37" name="TextBox 36"/>
          <p:cNvSpPr txBox="1"/>
          <p:nvPr/>
        </p:nvSpPr>
        <p:spPr>
          <a:xfrm>
            <a:off x="2825539" y="1800225"/>
            <a:ext cx="2090663" cy="361950"/>
          </a:xfrm>
          <a:prstGeom prst="rect">
            <a:avLst/>
          </a:prstGeom>
          <a:noFill/>
        </p:spPr>
        <p:txBody>
          <a:bodyPr wrap="square" lIns="0" rIns="0" tIns="0" bIns="0" anchor="t">
            <a:spAutoFit/>
          </a:bodyPr>
          <a:lstStyle/>
          <a:p>
            <a:pPr algn="ctr"/>
            <a:r>
              <a:rPr b="0" sz="1125" i="0" u="none">
                <a:solidFill>
                  <a:srgbClr val="475569"/>
                </a:solidFill>
                <a:latin typeface="Inter"/>
              </a:rPr>
              <a:t>Sinh </a:t>
            </a:r>
            <a:r>
              <a:rPr b="0" sz="1125" i="0" u="none">
                <a:solidFill>
                  <a:srgbClr val="475569"/>
                </a:solidFill>
                <a:latin typeface="Inter"/>
              </a:rPr>
              <a:t>test-matrix.md</a:t>
            </a:r>
            <a:r>
              <a:rPr b="0" sz="1125" i="0" u="none">
                <a:solidFill>
                  <a:srgbClr val="475569"/>
                </a:solidFill>
                <a:latin typeface="Inter"/>
              </a:rPr>
              <a:t> có truy vết rõ ràng.</a:t>
            </a:r>
          </a:p>
        </p:txBody>
      </p:sp>
      <p:sp>
        <p:nvSpPr>
          <p:cNvPr id="38" name="TextBox 37"/>
          <p:cNvSpPr txBox="1"/>
          <p:nvPr/>
        </p:nvSpPr>
        <p:spPr>
          <a:xfrm>
            <a:off x="5762476" y="1238250"/>
            <a:ext cx="666750" cy="133350"/>
          </a:xfrm>
          <a:prstGeom prst="rect">
            <a:avLst/>
          </a:prstGeom>
          <a:noFill/>
        </p:spPr>
        <p:txBody>
          <a:bodyPr wrap="square" lIns="0" rIns="0" tIns="0" bIns="0" anchor="t">
            <a:spAutoFit/>
          </a:bodyPr>
          <a:lstStyle/>
          <a:p>
            <a:pPr algn="ctr"/>
            <a:r>
              <a:rPr b="1" sz="825" i="0" u="none">
                <a:solidFill>
                  <a:srgbClr val="FFFFFF"/>
                </a:solidFill>
                <a:latin typeface="Inter"/>
              </a:rPr>
              <a:t>DỪNG 1</a:t>
            </a:r>
          </a:p>
        </p:txBody>
      </p:sp>
      <p:sp>
        <p:nvSpPr>
          <p:cNvPr id="39" name="TextBox 38"/>
          <p:cNvSpPr txBox="1"/>
          <p:nvPr/>
        </p:nvSpPr>
        <p:spPr>
          <a:xfrm>
            <a:off x="5050519" y="1524000"/>
            <a:ext cx="2090663" cy="200025"/>
          </a:xfrm>
          <a:prstGeom prst="rect">
            <a:avLst/>
          </a:prstGeom>
          <a:noFill/>
        </p:spPr>
        <p:txBody>
          <a:bodyPr wrap="none" lIns="0" rIns="0" tIns="0" bIns="0" anchor="t">
            <a:spAutoFit/>
          </a:bodyPr>
          <a:lstStyle/>
          <a:p>
            <a:pPr algn="ctr"/>
            <a:r>
              <a:rPr b="1" sz="1350" i="0" u="none">
                <a:solidFill>
                  <a:srgbClr val="B91C1C"/>
                </a:solidFill>
                <a:latin typeface="Inter"/>
              </a:rPr>
              <a:t>Pha 3</a:t>
            </a:r>
          </a:p>
        </p:txBody>
      </p:sp>
      <p:sp>
        <p:nvSpPr>
          <p:cNvPr id="40" name="TextBox 39"/>
          <p:cNvSpPr txBox="1"/>
          <p:nvPr/>
        </p:nvSpPr>
        <p:spPr>
          <a:xfrm>
            <a:off x="5050519" y="1800225"/>
            <a:ext cx="2090663" cy="361950"/>
          </a:xfrm>
          <a:prstGeom prst="rect">
            <a:avLst/>
          </a:prstGeom>
          <a:noFill/>
        </p:spPr>
        <p:txBody>
          <a:bodyPr wrap="square" lIns="0" rIns="0" tIns="0" bIns="0" anchor="t">
            <a:spAutoFit/>
          </a:bodyPr>
          <a:lstStyle/>
          <a:p>
            <a:pPr algn="ctr"/>
            <a:r>
              <a:rPr b="0" sz="1125" i="0" u="none">
                <a:solidFill>
                  <a:srgbClr val="9F1239"/>
                </a:solidFill>
                <a:latin typeface="Inter"/>
              </a:rPr>
              <a:t>Người duyệt Matrix (Y/S/N).</a:t>
            </a:r>
          </a:p>
        </p:txBody>
      </p:sp>
      <p:sp>
        <p:nvSpPr>
          <p:cNvPr id="41" name="TextBox 40"/>
          <p:cNvSpPr txBox="1"/>
          <p:nvPr/>
        </p:nvSpPr>
        <p:spPr>
          <a:xfrm>
            <a:off x="7275500" y="1524000"/>
            <a:ext cx="2090663" cy="200025"/>
          </a:xfrm>
          <a:prstGeom prst="rect">
            <a:avLst/>
          </a:prstGeom>
          <a:noFill/>
        </p:spPr>
        <p:txBody>
          <a:bodyPr wrap="none" lIns="0" rIns="0" tIns="0" bIns="0" anchor="t">
            <a:spAutoFit/>
          </a:bodyPr>
          <a:lstStyle/>
          <a:p>
            <a:pPr algn="ctr"/>
            <a:r>
              <a:rPr b="1" sz="1350" i="0" u="none">
                <a:solidFill>
                  <a:srgbClr val="1D4ED8"/>
                </a:solidFill>
                <a:latin typeface="Inter"/>
              </a:rPr>
              <a:t>Pha 4</a:t>
            </a:r>
          </a:p>
        </p:txBody>
      </p:sp>
      <p:sp>
        <p:nvSpPr>
          <p:cNvPr id="42" name="TextBox 41"/>
          <p:cNvSpPr txBox="1"/>
          <p:nvPr/>
        </p:nvSpPr>
        <p:spPr>
          <a:xfrm>
            <a:off x="7275500" y="1800225"/>
            <a:ext cx="2090663" cy="542925"/>
          </a:xfrm>
          <a:prstGeom prst="rect">
            <a:avLst/>
          </a:prstGeom>
          <a:noFill/>
        </p:spPr>
        <p:txBody>
          <a:bodyPr wrap="square" lIns="0" rIns="0" tIns="0" bIns="0" anchor="t">
            <a:spAutoFit/>
          </a:bodyPr>
          <a:lstStyle/>
          <a:p>
            <a:pPr algn="ctr"/>
            <a:r>
              <a:rPr b="0" sz="1125" i="0" u="none">
                <a:solidFill>
                  <a:srgbClr val="475569"/>
                </a:solidFill>
                <a:latin typeface="Inter"/>
              </a:rPr>
              <a:t>Sinh Karate Feature; chạy </a:t>
            </a:r>
            <a:r>
              <a:rPr b="0" sz="1125" i="0" u="none">
                <a:solidFill>
                  <a:srgbClr val="475569"/>
                </a:solidFill>
                <a:latin typeface="Inter"/>
              </a:rPr>
              <a:t>check_coverage.py</a:t>
            </a:r>
            <a:r>
              <a:rPr b="0" sz="1125" i="0" u="none">
                <a:solidFill>
                  <a:srgbClr val="475569"/>
                </a:solidFill>
                <a:latin typeface="Inter"/>
              </a:rPr>
              <a:t>.</a:t>
            </a:r>
          </a:p>
        </p:txBody>
      </p:sp>
      <p:sp>
        <p:nvSpPr>
          <p:cNvPr id="43" name="TextBox 42"/>
          <p:cNvSpPr txBox="1"/>
          <p:nvPr/>
        </p:nvSpPr>
        <p:spPr>
          <a:xfrm>
            <a:off x="10202912" y="1238250"/>
            <a:ext cx="685800" cy="133350"/>
          </a:xfrm>
          <a:prstGeom prst="rect">
            <a:avLst/>
          </a:prstGeom>
          <a:noFill/>
        </p:spPr>
        <p:txBody>
          <a:bodyPr wrap="square" lIns="0" rIns="0" tIns="0" bIns="0" anchor="t">
            <a:spAutoFit/>
          </a:bodyPr>
          <a:lstStyle/>
          <a:p>
            <a:pPr algn="ctr"/>
            <a:r>
              <a:rPr b="1" sz="825" i="0" u="none">
                <a:solidFill>
                  <a:srgbClr val="FFFFFF"/>
                </a:solidFill>
                <a:latin typeface="Inter"/>
              </a:rPr>
              <a:t>DỪNG 2</a:t>
            </a:r>
          </a:p>
        </p:txBody>
      </p:sp>
      <p:sp>
        <p:nvSpPr>
          <p:cNvPr id="44" name="TextBox 43"/>
          <p:cNvSpPr txBox="1"/>
          <p:nvPr/>
        </p:nvSpPr>
        <p:spPr>
          <a:xfrm>
            <a:off x="9500480" y="1524000"/>
            <a:ext cx="2090663" cy="200025"/>
          </a:xfrm>
          <a:prstGeom prst="rect">
            <a:avLst/>
          </a:prstGeom>
          <a:noFill/>
        </p:spPr>
        <p:txBody>
          <a:bodyPr wrap="none" lIns="0" rIns="0" tIns="0" bIns="0" anchor="t">
            <a:spAutoFit/>
          </a:bodyPr>
          <a:lstStyle/>
          <a:p>
            <a:pPr algn="ctr"/>
            <a:r>
              <a:rPr b="1" sz="1350" i="0" u="none">
                <a:solidFill>
                  <a:srgbClr val="B91C1C"/>
                </a:solidFill>
                <a:latin typeface="Inter"/>
              </a:rPr>
              <a:t>Pha 5</a:t>
            </a:r>
          </a:p>
        </p:txBody>
      </p:sp>
      <p:sp>
        <p:nvSpPr>
          <p:cNvPr id="45" name="TextBox 44"/>
          <p:cNvSpPr txBox="1"/>
          <p:nvPr/>
        </p:nvSpPr>
        <p:spPr>
          <a:xfrm>
            <a:off x="9500480" y="1800225"/>
            <a:ext cx="2090663" cy="542925"/>
          </a:xfrm>
          <a:prstGeom prst="rect">
            <a:avLst/>
          </a:prstGeom>
          <a:noFill/>
        </p:spPr>
        <p:txBody>
          <a:bodyPr wrap="square" lIns="0" rIns="0" tIns="0" bIns="0" anchor="t">
            <a:spAutoFit/>
          </a:bodyPr>
          <a:lstStyle/>
          <a:p>
            <a:pPr algn="ctr"/>
            <a:r>
              <a:rPr b="0" sz="1125" i="0" u="none">
                <a:solidFill>
                  <a:srgbClr val="9F1239"/>
                </a:solidFill>
                <a:latin typeface="Inter"/>
              </a:rPr>
              <a:t>Lệnh "chạy"; điền result.md; phân loại ca đỏ.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1333500" y="3000375"/>
            <a:ext cx="2095500" cy="1695450"/>
          </a:xfrm>
          <a:prstGeom prst="roundRect">
            <a:avLst>
              <a:gd name="adj" fmla="val 674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10000" y="3000375"/>
            <a:ext cx="2095500" cy="1695450"/>
          </a:xfrm>
          <a:prstGeom prst="roundRect">
            <a:avLst>
              <a:gd name="adj" fmla="val 674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86500" y="3000375"/>
            <a:ext cx="2095500" cy="1695450"/>
          </a:xfrm>
          <a:prstGeom prst="roundRect">
            <a:avLst>
              <a:gd name="adj" fmla="val 674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763000" y="3000375"/>
            <a:ext cx="2095500" cy="1695450"/>
          </a:xfrm>
          <a:prstGeom prst="roundRect">
            <a:avLst>
              <a:gd name="adj" fmla="val 674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2162175"/>
            <a:ext cx="12954000" cy="381000"/>
          </a:xfrm>
          <a:prstGeom prst="rect">
            <a:avLst/>
          </a:prstGeom>
          <a:noFill/>
        </p:spPr>
        <p:txBody>
          <a:bodyPr wrap="none" lIns="0" rIns="0" tIns="0" bIns="0" anchor="t">
            <a:spAutoFit/>
          </a:bodyPr>
          <a:lstStyle/>
          <a:p>
            <a:pPr algn="ctr"/>
            <a:r>
              <a:rPr b="1" sz="2400" i="0" u="none">
                <a:solidFill>
                  <a:srgbClr val="0F172A"/>
                </a:solidFill>
                <a:latin typeface="Space Grotesk"/>
              </a:rPr>
              <a:t>Tổng Quan Lượt Chạy Karate</a:t>
            </a:r>
          </a:p>
        </p:txBody>
      </p:sp>
      <p:sp>
        <p:nvSpPr>
          <p:cNvPr id="7" name="TextBox 6"/>
          <p:cNvSpPr txBox="1"/>
          <p:nvPr/>
        </p:nvSpPr>
        <p:spPr>
          <a:xfrm>
            <a:off x="1464468" y="3314700"/>
            <a:ext cx="1833562" cy="609600"/>
          </a:xfrm>
          <a:prstGeom prst="rect">
            <a:avLst/>
          </a:prstGeom>
          <a:noFill/>
        </p:spPr>
        <p:txBody>
          <a:bodyPr wrap="none" lIns="0" rIns="0" tIns="0" bIns="0" anchor="t">
            <a:spAutoFit/>
          </a:bodyPr>
          <a:lstStyle/>
          <a:p>
            <a:pPr algn="ctr">
              <a:lnSpc>
                <a:spcPts val="4800"/>
              </a:lnSpc>
            </a:pPr>
            <a:r>
              <a:rPr b="1" sz="4800" i="0" u="none">
                <a:solidFill>
                  <a:srgbClr val="0F172A"/>
                </a:solidFill>
                <a:latin typeface="Inter"/>
              </a:rPr>
              <a:t>13</a:t>
            </a:r>
          </a:p>
        </p:txBody>
      </p:sp>
      <p:sp>
        <p:nvSpPr>
          <p:cNvPr id="8" name="TextBox 7"/>
          <p:cNvSpPr txBox="1"/>
          <p:nvPr/>
        </p:nvSpPr>
        <p:spPr>
          <a:xfrm>
            <a:off x="1464468" y="4000500"/>
            <a:ext cx="1833562" cy="381000"/>
          </a:xfrm>
          <a:prstGeom prst="rect">
            <a:avLst/>
          </a:prstGeom>
          <a:noFill/>
        </p:spPr>
        <p:txBody>
          <a:bodyPr wrap="square" lIns="0" rIns="0" tIns="0" bIns="0" anchor="t">
            <a:spAutoFit/>
          </a:bodyPr>
          <a:lstStyle/>
          <a:p>
            <a:pPr algn="ctr"/>
            <a:r>
              <a:rPr b="1" sz="1200" i="0" u="none">
                <a:solidFill>
                  <a:srgbClr val="64748B"/>
                </a:solidFill>
                <a:latin typeface="Inter"/>
              </a:rPr>
              <a:t>Scenario Do AI Đề Xuất</a:t>
            </a:r>
          </a:p>
        </p:txBody>
      </p:sp>
      <p:sp>
        <p:nvSpPr>
          <p:cNvPr id="9" name="TextBox 8"/>
          <p:cNvSpPr txBox="1"/>
          <p:nvPr/>
        </p:nvSpPr>
        <p:spPr>
          <a:xfrm>
            <a:off x="3940968" y="3314700"/>
            <a:ext cx="1833562" cy="609600"/>
          </a:xfrm>
          <a:prstGeom prst="rect">
            <a:avLst/>
          </a:prstGeom>
          <a:noFill/>
        </p:spPr>
        <p:txBody>
          <a:bodyPr wrap="none" lIns="0" rIns="0" tIns="0" bIns="0" anchor="t">
            <a:spAutoFit/>
          </a:bodyPr>
          <a:lstStyle/>
          <a:p>
            <a:pPr algn="ctr">
              <a:lnSpc>
                <a:spcPts val="4800"/>
              </a:lnSpc>
            </a:pPr>
            <a:r>
              <a:rPr b="1" sz="4800" i="0" u="none">
                <a:solidFill>
                  <a:srgbClr val="16A34A"/>
                </a:solidFill>
                <a:latin typeface="Inter"/>
              </a:rPr>
              <a:t>8</a:t>
            </a:r>
          </a:p>
        </p:txBody>
      </p:sp>
      <p:sp>
        <p:nvSpPr>
          <p:cNvPr id="10" name="TextBox 9"/>
          <p:cNvSpPr txBox="1"/>
          <p:nvPr/>
        </p:nvSpPr>
        <p:spPr>
          <a:xfrm>
            <a:off x="3940968" y="4000500"/>
            <a:ext cx="1833562" cy="190500"/>
          </a:xfrm>
          <a:prstGeom prst="rect">
            <a:avLst/>
          </a:prstGeom>
          <a:noFill/>
        </p:spPr>
        <p:txBody>
          <a:bodyPr wrap="none" lIns="0" rIns="0" tIns="0" bIns="0" anchor="t">
            <a:spAutoFit/>
          </a:bodyPr>
          <a:lstStyle/>
          <a:p>
            <a:pPr algn="ctr"/>
            <a:r>
              <a:rPr b="1" sz="1200" i="0" u="none">
                <a:solidFill>
                  <a:srgbClr val="64748B"/>
                </a:solidFill>
                <a:latin typeface="Inter"/>
              </a:rPr>
              <a:t>Ca Đạt (Xanh)</a:t>
            </a:r>
          </a:p>
        </p:txBody>
      </p:sp>
      <p:sp>
        <p:nvSpPr>
          <p:cNvPr id="11" name="TextBox 10"/>
          <p:cNvSpPr txBox="1"/>
          <p:nvPr/>
        </p:nvSpPr>
        <p:spPr>
          <a:xfrm>
            <a:off x="6417468" y="3314700"/>
            <a:ext cx="1833562" cy="609600"/>
          </a:xfrm>
          <a:prstGeom prst="rect">
            <a:avLst/>
          </a:prstGeom>
          <a:noFill/>
        </p:spPr>
        <p:txBody>
          <a:bodyPr wrap="none" lIns="0" rIns="0" tIns="0" bIns="0" anchor="t">
            <a:spAutoFit/>
          </a:bodyPr>
          <a:lstStyle/>
          <a:p>
            <a:pPr algn="ctr">
              <a:lnSpc>
                <a:spcPts val="4800"/>
              </a:lnSpc>
            </a:pPr>
            <a:r>
              <a:rPr b="1" sz="4800" i="0" u="none">
                <a:solidFill>
                  <a:srgbClr val="EF4444"/>
                </a:solidFill>
                <a:latin typeface="Inter"/>
              </a:rPr>
              <a:t>5</a:t>
            </a:r>
          </a:p>
        </p:txBody>
      </p:sp>
      <p:sp>
        <p:nvSpPr>
          <p:cNvPr id="12" name="TextBox 11"/>
          <p:cNvSpPr txBox="1"/>
          <p:nvPr/>
        </p:nvSpPr>
        <p:spPr>
          <a:xfrm>
            <a:off x="6417468" y="4000500"/>
            <a:ext cx="1833562" cy="190500"/>
          </a:xfrm>
          <a:prstGeom prst="rect">
            <a:avLst/>
          </a:prstGeom>
          <a:noFill/>
        </p:spPr>
        <p:txBody>
          <a:bodyPr wrap="none" lIns="0" rIns="0" tIns="0" bIns="0" anchor="t">
            <a:spAutoFit/>
          </a:bodyPr>
          <a:lstStyle/>
          <a:p>
            <a:pPr algn="ctr"/>
            <a:r>
              <a:rPr b="1" sz="1200" i="0" u="none">
                <a:solidFill>
                  <a:srgbClr val="64748B"/>
                </a:solidFill>
                <a:latin typeface="Inter"/>
              </a:rPr>
              <a:t>Ca Lỗi (Đỏ)</a:t>
            </a:r>
          </a:p>
        </p:txBody>
      </p:sp>
      <p:sp>
        <p:nvSpPr>
          <p:cNvPr id="13" name="TextBox 12"/>
          <p:cNvSpPr txBox="1"/>
          <p:nvPr/>
        </p:nvSpPr>
        <p:spPr>
          <a:xfrm>
            <a:off x="8893968" y="3314700"/>
            <a:ext cx="1833562" cy="609600"/>
          </a:xfrm>
          <a:prstGeom prst="rect">
            <a:avLst/>
          </a:prstGeom>
          <a:noFill/>
        </p:spPr>
        <p:txBody>
          <a:bodyPr wrap="none" lIns="0" rIns="0" tIns="0" bIns="0" anchor="t">
            <a:spAutoFit/>
          </a:bodyPr>
          <a:lstStyle/>
          <a:p>
            <a:pPr algn="ctr">
              <a:lnSpc>
                <a:spcPts val="4800"/>
              </a:lnSpc>
            </a:pPr>
            <a:r>
              <a:rPr b="1" sz="4800" i="0" u="none">
                <a:solidFill>
                  <a:srgbClr val="2563EB"/>
                </a:solidFill>
                <a:latin typeface="Inter"/>
              </a:rPr>
              <a:t>655</a:t>
            </a:r>
          </a:p>
        </p:txBody>
      </p:sp>
      <p:sp>
        <p:nvSpPr>
          <p:cNvPr id="14" name="TextBox 13"/>
          <p:cNvSpPr txBox="1"/>
          <p:nvPr/>
        </p:nvSpPr>
        <p:spPr>
          <a:xfrm>
            <a:off x="8893968" y="4000500"/>
            <a:ext cx="1833562" cy="381000"/>
          </a:xfrm>
          <a:prstGeom prst="rect">
            <a:avLst/>
          </a:prstGeom>
          <a:noFill/>
        </p:spPr>
        <p:txBody>
          <a:bodyPr wrap="square" lIns="0" rIns="0" tIns="0" bIns="0" anchor="t">
            <a:spAutoFit/>
          </a:bodyPr>
          <a:lstStyle/>
          <a:p>
            <a:pPr algn="ctr"/>
            <a:r>
              <a:rPr b="1" sz="1200" i="0" u="none">
                <a:solidFill>
                  <a:srgbClr val="64748B"/>
                </a:solidFill>
                <a:latin typeface="Inter"/>
              </a:rPr>
              <a:t>Thời Gian Chạy (ms)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14362" y="1562100"/>
            <a:ext cx="1315491"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929854" y="1562100"/>
            <a:ext cx="306958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999434" y="1562100"/>
            <a:ext cx="383708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36521" y="1562100"/>
            <a:ext cx="274111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1104900"/>
            <a:ext cx="10972800" cy="30099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09600" y="1104900"/>
          <a:ext cx="10963273" cy="3009900"/>
        </p:xfrm>
        <a:graphic>
          <a:graphicData uri="http://schemas.openxmlformats.org/drawingml/2006/table">
            <a:tbl>
              <a:tblPr firstRow="0" bandRow="0">
                <a:lnL>
                  <a:noFill/>
                </a:lnL>
                <a:lnR>
                  <a:noFill/>
                </a:lnR>
                <a:lnT>
                  <a:noFill/>
                </a:lnT>
                <a:lnB>
                  <a:noFill/>
                </a:lnB>
                <a:lnV>
                  <a:noFill/>
                </a:lnV>
                <a:lnH>
                  <a:noFill/>
                </a:lnH>
              </a:tblPr>
              <a:tblGrid>
                <a:gridCol w="1315491"/>
                <a:gridCol w="3069580"/>
                <a:gridCol w="3837086"/>
                <a:gridCol w="2741116"/>
              </a:tblGrid>
              <a:tr h="501650">
                <a:tc>
                  <a:txBody>
                    <a:bodyPr/>
                    <a:lstStyle/>
                    <a:p>
                      <a:pPr algn="l"/>
                      <a:r>
                        <a:rPr b="1" sz="1275" i="0" u="none">
                          <a:solidFill>
                            <a:srgbClr val="0F172A"/>
                          </a:solidFill>
                          <a:latin typeface="Inter"/>
                        </a:rPr>
                        <a:t>ID</a:t>
                      </a:r>
                    </a:p>
                  </a:txBody>
                  <a:tcPr anchor="ctr" marL="63500" marR="63500" marT="25400" marB="25400">
                    <a:lnL>
                      <a:noFill/>
                    </a:lnL>
                    <a:lnR>
                      <a:noFill/>
                    </a:lnR>
                    <a:lnT>
                      <a:noFill/>
                    </a:lnT>
                    <a:lnB>
                      <a:noFill/>
                    </a:lnB>
                    <a:solidFill>
                      <a:srgbClr val="F1F5F9"/>
                    </a:solidFill>
                  </a:tcPr>
                </a:tc>
                <a:tc>
                  <a:txBody>
                    <a:bodyPr/>
                    <a:lstStyle/>
                    <a:p>
                      <a:pPr algn="l"/>
                      <a:r>
                        <a:rPr b="1" sz="1275" i="0" u="none">
                          <a:solidFill>
                            <a:srgbClr val="0F172A"/>
                          </a:solidFill>
                          <a:latin typeface="Inter"/>
                        </a:rPr>
                        <a:t>Triệu Chứng</a:t>
                      </a:r>
                    </a:p>
                  </a:txBody>
                  <a:tcPr anchor="ctr" marL="63500" marR="63500" marT="25400" marB="25400">
                    <a:lnL>
                      <a:noFill/>
                    </a:lnL>
                    <a:lnR>
                      <a:noFill/>
                    </a:lnR>
                    <a:lnT>
                      <a:noFill/>
                    </a:lnT>
                    <a:lnB>
                      <a:noFill/>
                    </a:lnB>
                    <a:solidFill>
                      <a:srgbClr val="F1F5F9"/>
                    </a:solidFill>
                  </a:tcPr>
                </a:tc>
                <a:tc>
                  <a:txBody>
                    <a:bodyPr/>
                    <a:lstStyle/>
                    <a:p>
                      <a:pPr algn="l"/>
                      <a:r>
                        <a:rPr b="1" sz="1275" i="0" u="none">
                          <a:solidFill>
                            <a:srgbClr val="0F172A"/>
                          </a:solidFill>
                          <a:latin typeface="Inter"/>
                        </a:rPr>
                        <a:t>Nguyên Nhân</a:t>
                      </a:r>
                    </a:p>
                  </a:txBody>
                  <a:tcPr anchor="ctr" marL="63500" marR="63500" marT="25400" marB="25400">
                    <a:lnL>
                      <a:noFill/>
                    </a:lnL>
                    <a:lnR>
                      <a:noFill/>
                    </a:lnR>
                    <a:lnT>
                      <a:noFill/>
                    </a:lnT>
                    <a:lnB>
                      <a:noFill/>
                    </a:lnB>
                    <a:solidFill>
                      <a:srgbClr val="F1F5F9"/>
                    </a:solidFill>
                  </a:tcPr>
                </a:tc>
                <a:tc>
                  <a:txBody>
                    <a:bodyPr/>
                    <a:lstStyle/>
                    <a:p>
                      <a:pPr algn="l"/>
                      <a:r>
                        <a:rPr b="1" sz="1275" i="0" u="none">
                          <a:solidFill>
                            <a:srgbClr val="0F172A"/>
                          </a:solidFill>
                          <a:latin typeface="Inter"/>
                        </a:rPr>
                        <a:t>Đối Chiếu (Postman)</a:t>
                      </a:r>
                    </a:p>
                  </a:txBody>
                  <a:tcPr anchor="ctr" marL="63500" marR="63500" marT="25400" marB="25400">
                    <a:lnL>
                      <a:noFill/>
                    </a:lnL>
                    <a:lnR>
                      <a:noFill/>
                    </a:lnR>
                    <a:lnT>
                      <a:noFill/>
                    </a:lnT>
                    <a:lnB>
                      <a:noFill/>
                    </a:lnB>
                    <a:solidFill>
                      <a:srgbClr val="F1F5F9"/>
                    </a:solidFill>
                  </a:tcPr>
                </a:tc>
              </a:tr>
              <a:tr h="501650">
                <a:tc>
                  <a:txBody>
                    <a:bodyPr/>
                    <a:lstStyle/>
                    <a:p>
                      <a:pPr algn="l"/>
                      <a:r>
                        <a:rPr b="1" sz="1275" i="0" u="none">
                          <a:solidFill>
                            <a:srgbClr val="B91C1C"/>
                          </a:solidFill>
                          <a:latin typeface="Inter"/>
                        </a:rPr>
                        <a:t>AC01</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Giá trị giảm -9.000.000, kỳ vọng 100.000</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Lỗi hệ thống thật (Công thức phần trăm sai)</a:t>
                      </a:r>
                    </a:p>
                  </a:txBody>
                  <a:tcPr anchor="ctr" marL="63500" marR="63500" marT="25400" marB="25400">
                    <a:lnL>
                      <a:noFill/>
                    </a:lnL>
                    <a:lnR>
                      <a:noFill/>
                    </a:lnR>
                    <a:lnT>
                      <a:noFill/>
                    </a:lnT>
                    <a:lnB>
                      <a:noFill/>
                    </a:lnB>
                    <a:solidFill>
                      <a:srgbClr val="FEF2F2"/>
                    </a:solidFill>
                  </a:tcPr>
                </a:tc>
                <a:tc>
                  <a:txBody>
                    <a:bodyPr/>
                    <a:lstStyle/>
                    <a:p>
                      <a:pPr algn="l"/>
                      <a:r>
                        <a:rPr b="1" sz="1275" i="0" u="none">
                          <a:solidFill>
                            <a:srgbClr val="000000"/>
                          </a:solidFill>
                          <a:latin typeface="Inter"/>
                        </a:rPr>
                        <a:t>Khớp mã B4</a:t>
                      </a:r>
                    </a:p>
                  </a:txBody>
                  <a:tcPr anchor="ctr" marL="63500" marR="63500" marT="25400" marB="25400">
                    <a:lnL>
                      <a:noFill/>
                    </a:lnL>
                    <a:lnR>
                      <a:noFill/>
                    </a:lnR>
                    <a:lnT>
                      <a:noFill/>
                    </a:lnT>
                    <a:lnB>
                      <a:noFill/>
                    </a:lnB>
                    <a:solidFill>
                      <a:srgbClr val="FEF2F2"/>
                    </a:solidFill>
                  </a:tcPr>
                </a:tc>
              </a:tr>
              <a:tr h="501650">
                <a:tc>
                  <a:txBody>
                    <a:bodyPr/>
                    <a:lstStyle/>
                    <a:p>
                      <a:pPr algn="l"/>
                      <a:r>
                        <a:rPr b="1" sz="1275" i="0" u="none">
                          <a:solidFill>
                            <a:srgbClr val="B91C1C"/>
                          </a:solidFill>
                          <a:latin typeface="Inter"/>
                        </a:rPr>
                        <a:t>AC03</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Trả 400 tại đúng ngưỡng 300.000</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Lỗi hệ thống thật (So sánh &gt; thay vì &gt;=)</a:t>
                      </a:r>
                    </a:p>
                  </a:txBody>
                  <a:tcPr anchor="ctr" marL="63500" marR="63500" marT="25400" marB="25400">
                    <a:lnL>
                      <a:noFill/>
                    </a:lnL>
                    <a:lnR>
                      <a:noFill/>
                    </a:lnR>
                    <a:lnT>
                      <a:noFill/>
                    </a:lnT>
                    <a:lnB>
                      <a:noFill/>
                    </a:lnB>
                    <a:solidFill>
                      <a:srgbClr val="FEF2F2"/>
                    </a:solidFill>
                  </a:tcPr>
                </a:tc>
                <a:tc>
                  <a:txBody>
                    <a:bodyPr/>
                    <a:lstStyle/>
                    <a:p>
                      <a:pPr algn="l"/>
                      <a:r>
                        <a:rPr b="1" sz="1275" i="0" u="none">
                          <a:solidFill>
                            <a:srgbClr val="000000"/>
                          </a:solidFill>
                          <a:latin typeface="Inter"/>
                        </a:rPr>
                        <a:t>Khớp mã B14</a:t>
                      </a:r>
                    </a:p>
                  </a:txBody>
                  <a:tcPr anchor="ctr" marL="63500" marR="63500" marT="25400" marB="25400">
                    <a:lnL>
                      <a:noFill/>
                    </a:lnL>
                    <a:lnR>
                      <a:noFill/>
                    </a:lnR>
                    <a:lnT>
                      <a:noFill/>
                    </a:lnT>
                    <a:lnB>
                      <a:noFill/>
                    </a:lnB>
                    <a:solidFill>
                      <a:srgbClr val="FEF2F2"/>
                    </a:solidFill>
                  </a:tcPr>
                </a:tc>
              </a:tr>
              <a:tr h="501650">
                <a:tc>
                  <a:txBody>
                    <a:bodyPr/>
                    <a:lstStyle/>
                    <a:p>
                      <a:pPr algn="l"/>
                      <a:r>
                        <a:rPr b="1" sz="1275" i="0" u="none">
                          <a:solidFill>
                            <a:srgbClr val="B91C1C"/>
                          </a:solidFill>
                          <a:latin typeface="Inter"/>
                        </a:rPr>
                        <a:t>AC07</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200 khi không có token</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Lỗi hệ thống thật (Endpoint thiếu Auth)</a:t>
                      </a:r>
                    </a:p>
                  </a:txBody>
                  <a:tcPr anchor="ctr" marL="63500" marR="63500" marT="25400" marB="25400">
                    <a:lnL>
                      <a:noFill/>
                    </a:lnL>
                    <a:lnR>
                      <a:noFill/>
                    </a:lnR>
                    <a:lnT>
                      <a:noFill/>
                    </a:lnT>
                    <a:lnB>
                      <a:noFill/>
                    </a:lnB>
                    <a:solidFill>
                      <a:srgbClr val="FEF2F2"/>
                    </a:solidFill>
                  </a:tcPr>
                </a:tc>
                <a:tc>
                  <a:txBody>
                    <a:bodyPr/>
                    <a:lstStyle/>
                    <a:p>
                      <a:pPr algn="l"/>
                      <a:r>
                        <a:rPr b="1" sz="1275" i="0" u="none">
                          <a:solidFill>
                            <a:srgbClr val="000000"/>
                          </a:solidFill>
                          <a:latin typeface="Inter"/>
                        </a:rPr>
                        <a:t>Khớp mã B26</a:t>
                      </a:r>
                    </a:p>
                  </a:txBody>
                  <a:tcPr anchor="ctr" marL="63500" marR="63500" marT="25400" marB="25400">
                    <a:lnL>
                      <a:noFill/>
                    </a:lnL>
                    <a:lnR>
                      <a:noFill/>
                    </a:lnR>
                    <a:lnT>
                      <a:noFill/>
                    </a:lnT>
                    <a:lnB>
                      <a:noFill/>
                    </a:lnB>
                    <a:solidFill>
                      <a:srgbClr val="FEF2F2"/>
                    </a:solidFill>
                  </a:tcPr>
                </a:tc>
              </a:tr>
              <a:tr h="501650">
                <a:tc>
                  <a:txBody>
                    <a:bodyPr/>
                    <a:lstStyle/>
                    <a:p>
                      <a:pPr algn="l"/>
                      <a:r>
                        <a:rPr b="1" sz="1275" i="0" u="none">
                          <a:solidFill>
                            <a:srgbClr val="B45309"/>
                          </a:solidFill>
                          <a:latin typeface="Inter"/>
                        </a:rPr>
                        <a:t>AC10</a:t>
                      </a:r>
                    </a:p>
                  </a:txBody>
                  <a:tcPr anchor="ctr" marL="63500" marR="63500" marT="25400" marB="25400">
                    <a:lnL>
                      <a:noFill/>
                    </a:lnL>
                    <a:lnR>
                      <a:noFill/>
                    </a:lnR>
                    <a:lnT>
                      <a:noFill/>
                    </a:lnT>
                    <a:lnB>
                      <a:noFill/>
                    </a:lnB>
                    <a:solidFill>
                      <a:srgbClr val="FFFBEB"/>
                    </a:solidFill>
                  </a:tcPr>
                </a:tc>
                <a:tc>
                  <a:txBody>
                    <a:bodyPr/>
                    <a:lstStyle/>
                    <a:p>
                      <a:pPr algn="l"/>
                      <a:r>
                        <a:rPr b="0" sz="1275" i="0" u="none">
                          <a:solidFill>
                            <a:srgbClr val="000000"/>
                          </a:solidFill>
                          <a:latin typeface="Inter"/>
                        </a:rPr>
                        <a:t>200 khi áp mã lần 2 (Kỳ vọng 400)</a:t>
                      </a:r>
                    </a:p>
                  </a:txBody>
                  <a:tcPr anchor="ctr" marL="63500" marR="63500" marT="25400" marB="25400">
                    <a:lnL>
                      <a:noFill/>
                    </a:lnL>
                    <a:lnR>
                      <a:noFill/>
                    </a:lnR>
                    <a:lnT>
                      <a:noFill/>
                    </a:lnT>
                    <a:lnB>
                      <a:noFill/>
                    </a:lnB>
                    <a:solidFill>
                      <a:srgbClr val="FFFBEB"/>
                    </a:solidFill>
                  </a:tcPr>
                </a:tc>
                <a:tc>
                  <a:txBody>
                    <a:bodyPr/>
                    <a:lstStyle/>
                    <a:p>
                      <a:pPr algn="l"/>
                      <a:r>
                        <a:rPr b="1" sz="1275" i="0" u="none">
                          <a:solidFill>
                            <a:srgbClr val="000000"/>
                          </a:solidFill>
                          <a:latin typeface="Inter"/>
                        </a:rPr>
                        <a:t>Lỗi Script Karate:</a:t>
                      </a:r>
                      <a:r>
                        <a:rPr b="0" sz="1275" i="0" u="none">
                          <a:solidFill>
                            <a:srgbClr val="000000"/>
                          </a:solidFill>
                          <a:latin typeface="Inter"/>
                        </a:rPr>
                        <a:t> </a:t>
                      </a:r>
                      <a:r>
                        <a:rPr b="0" sz="1275" i="0" u="none">
                          <a:solidFill>
                            <a:srgbClr val="000000"/>
                          </a:solidFill>
                          <a:latin typeface="Inter"/>
                        </a:rPr>
                        <a:t>user_id: u.id</a:t>
                      </a:r>
                      <a:r>
                        <a:rPr b="0" sz="1275" i="0" u="none">
                          <a:solidFill>
                            <a:srgbClr val="000000"/>
                          </a:solidFill>
                          <a:latin typeface="Inter"/>
                        </a:rPr>
                        <a:t> thay vì </a:t>
                      </a:r>
                      <a:r>
                        <a:rPr b="0" sz="1275" i="0" u="none">
                          <a:solidFill>
                            <a:srgbClr val="000000"/>
                          </a:solidFill>
                          <a:latin typeface="Inter"/>
                        </a:rPr>
                        <a:t>'#(u.id)'</a:t>
                      </a:r>
                    </a:p>
                  </a:txBody>
                  <a:tcPr anchor="ctr" marL="63500" marR="63500" marT="25400" marB="25400">
                    <a:lnL>
                      <a:noFill/>
                    </a:lnL>
                    <a:lnR>
                      <a:noFill/>
                    </a:lnR>
                    <a:lnT>
                      <a:noFill/>
                    </a:lnT>
                    <a:lnB>
                      <a:noFill/>
                    </a:lnB>
                    <a:solidFill>
                      <a:srgbClr val="FFFBEB"/>
                    </a:solidFill>
                  </a:tcPr>
                </a:tc>
                <a:tc>
                  <a:txBody>
                    <a:bodyPr/>
                    <a:lstStyle/>
                    <a:p>
                      <a:pPr algn="l"/>
                      <a:r>
                        <a:rPr b="1" sz="1275" i="0" u="none">
                          <a:solidFill>
                            <a:srgbClr val="000000"/>
                          </a:solidFill>
                          <a:latin typeface="Inter"/>
                        </a:rPr>
                        <a:t>Lệch Postman (Lỗi script)</a:t>
                      </a:r>
                    </a:p>
                  </a:txBody>
                  <a:tcPr anchor="ctr" marL="63500" marR="63500" marT="25400" marB="25400">
                    <a:lnL>
                      <a:noFill/>
                    </a:lnL>
                    <a:lnR>
                      <a:noFill/>
                    </a:lnR>
                    <a:lnT>
                      <a:noFill/>
                    </a:lnT>
                    <a:lnB>
                      <a:noFill/>
                    </a:lnB>
                    <a:solidFill>
                      <a:srgbClr val="FFFBEB"/>
                    </a:solidFill>
                  </a:tcPr>
                </a:tc>
              </a:tr>
              <a:tr h="501650">
                <a:tc>
                  <a:txBody>
                    <a:bodyPr/>
                    <a:lstStyle/>
                    <a:p>
                      <a:pPr algn="l"/>
                      <a:r>
                        <a:rPr b="1" sz="1275" i="0" u="none">
                          <a:solidFill>
                            <a:srgbClr val="B91C1C"/>
                          </a:solidFill>
                          <a:latin typeface="Inter"/>
                        </a:rPr>
                        <a:t>AC11</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200 với user thường (Kỳ vọng 403)</a:t>
                      </a:r>
                    </a:p>
                  </a:txBody>
                  <a:tcPr anchor="ctr" marL="63500" marR="63500" marT="25400" marB="25400">
                    <a:lnL>
                      <a:noFill/>
                    </a:lnL>
                    <a:lnR>
                      <a:noFill/>
                    </a:lnR>
                    <a:lnT>
                      <a:noFill/>
                    </a:lnT>
                    <a:lnB>
                      <a:noFill/>
                    </a:lnB>
                    <a:solidFill>
                      <a:srgbClr val="FEF2F2"/>
                    </a:solidFill>
                  </a:tcPr>
                </a:tc>
                <a:tc>
                  <a:txBody>
                    <a:bodyPr/>
                    <a:lstStyle/>
                    <a:p>
                      <a:pPr algn="l"/>
                      <a:r>
                        <a:rPr b="0" sz="1275" i="0" u="none">
                          <a:solidFill>
                            <a:srgbClr val="000000"/>
                          </a:solidFill>
                          <a:latin typeface="Inter"/>
                        </a:rPr>
                        <a:t>Lỗi hệ thống thật (Hỏng kiểm tra Role)</a:t>
                      </a:r>
                    </a:p>
                  </a:txBody>
                  <a:tcPr anchor="ctr" marL="63500" marR="63500" marT="25400" marB="25400">
                    <a:lnL>
                      <a:noFill/>
                    </a:lnL>
                    <a:lnR>
                      <a:noFill/>
                    </a:lnR>
                    <a:lnT>
                      <a:noFill/>
                    </a:lnT>
                    <a:lnB>
                      <a:noFill/>
                    </a:lnB>
                    <a:solidFill>
                      <a:srgbClr val="FEF2F2"/>
                    </a:solidFill>
                  </a:tcPr>
                </a:tc>
                <a:tc>
                  <a:txBody>
                    <a:bodyPr/>
                    <a:lstStyle/>
                    <a:p>
                      <a:pPr algn="l"/>
                      <a:r>
                        <a:rPr b="1" sz="1275" i="0" u="none">
                          <a:solidFill>
                            <a:srgbClr val="000000"/>
                          </a:solidFill>
                          <a:latin typeface="Inter"/>
                        </a:rPr>
                        <a:t>Khớp mã B24</a:t>
                      </a:r>
                    </a:p>
                  </a:txBody>
                  <a:tcPr anchor="ctr" marL="63500" marR="63500" marT="25400" marB="25400">
                    <a:lnL>
                      <a:noFill/>
                    </a:lnL>
                    <a:lnR>
                      <a:noFill/>
                    </a:lnR>
                    <a:lnT>
                      <a:noFill/>
                    </a:lnT>
                    <a:lnB>
                      <a:noFill/>
                    </a:lnB>
                    <a:solidFill>
                      <a:srgbClr val="FEF2F2"/>
                    </a:solidFill>
                  </a:tcPr>
                </a:tc>
              </a:tr>
            </a:tbl>
          </a:graphicData>
        </a:graphic>
      </p:graphicFrame>
      <p:sp>
        <p:nvSpPr>
          <p:cNvPr id="8" name="TextBox 7"/>
          <p:cNvSpPr txBox="1"/>
          <p:nvPr/>
        </p:nvSpPr>
        <p:spPr>
          <a:xfrm>
            <a:off x="609600" y="45720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Phân Tích 5 Ca Lỗi (Đỏ)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2138362"/>
            <a:ext cx="5686425" cy="3228975"/>
          </a:xfrm>
          <a:prstGeom prst="roundRect">
            <a:avLst>
              <a:gd name="adj" fmla="val 353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5357812"/>
            <a:ext cx="5686425"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2138362"/>
            <a:ext cx="5686425"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2138362"/>
            <a:ext cx="9525" cy="3228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86500" y="2138362"/>
            <a:ext cx="9525" cy="3228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24625" y="2886075"/>
            <a:ext cx="5057775" cy="1733550"/>
          </a:xfrm>
          <a:prstGeom prst="roundRect">
            <a:avLst>
              <a:gd name="adj" fmla="val 549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09825" y="2967037"/>
            <a:ext cx="2847975" cy="22860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09825" y="3443287"/>
            <a:ext cx="2847975" cy="22860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09825" y="3919537"/>
            <a:ext cx="2847975" cy="22860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09825" y="4395787"/>
            <a:ext cx="2847975" cy="22860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09825" y="4824412"/>
            <a:ext cx="2847975" cy="22860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09825" y="2967037"/>
            <a:ext cx="2847975" cy="2286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09825" y="3443287"/>
            <a:ext cx="2847975" cy="2286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09825" y="3919537"/>
            <a:ext cx="2847975" cy="2286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09825" y="4395787"/>
            <a:ext cx="2847975" cy="2286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409825" y="4824412"/>
            <a:ext cx="427136" cy="2286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600" y="45720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Đánh Giá Hiệu Quả Phát Hiện Lỗi</a:t>
            </a:r>
          </a:p>
        </p:txBody>
      </p:sp>
      <p:sp>
        <p:nvSpPr>
          <p:cNvPr id="19" name="TextBox 18"/>
          <p:cNvSpPr txBox="1"/>
          <p:nvPr/>
        </p:nvSpPr>
        <p:spPr>
          <a:xfrm>
            <a:off x="923925" y="2481262"/>
            <a:ext cx="6638329" cy="247650"/>
          </a:xfrm>
          <a:prstGeom prst="rect">
            <a:avLst/>
          </a:prstGeom>
          <a:noFill/>
        </p:spPr>
        <p:txBody>
          <a:bodyPr wrap="none" lIns="0" rIns="0" tIns="0" bIns="0" anchor="t">
            <a:spAutoFit/>
          </a:bodyPr>
          <a:lstStyle/>
          <a:p>
            <a:pPr algn="l"/>
            <a:r>
              <a:rPr b="1" sz="1650" i="0" u="none">
                <a:solidFill>
                  <a:srgbClr val="1E3A8A"/>
                </a:solidFill>
                <a:latin typeface="Inter"/>
              </a:rPr>
              <a:t>Tỉ Lệ Bắt Lỗi FR-09</a:t>
            </a:r>
          </a:p>
        </p:txBody>
      </p:sp>
      <p:sp>
        <p:nvSpPr>
          <p:cNvPr id="20" name="TextBox 19"/>
          <p:cNvSpPr txBox="1"/>
          <p:nvPr/>
        </p:nvSpPr>
        <p:spPr>
          <a:xfrm>
            <a:off x="923925" y="2986087"/>
            <a:ext cx="1666875" cy="190500"/>
          </a:xfrm>
          <a:prstGeom prst="rect">
            <a:avLst/>
          </a:prstGeom>
          <a:noFill/>
        </p:spPr>
        <p:txBody>
          <a:bodyPr wrap="none" lIns="0" rIns="0" tIns="0" bIns="0" anchor="t">
            <a:spAutoFit/>
          </a:bodyPr>
          <a:lstStyle/>
          <a:p>
            <a:pPr algn="l"/>
            <a:r>
              <a:rPr b="1" sz="1200" i="0" u="none">
                <a:solidFill>
                  <a:srgbClr val="475569"/>
                </a:solidFill>
                <a:latin typeface="Inter"/>
              </a:rPr>
              <a:t>B4 (Tính Sai)</a:t>
            </a:r>
          </a:p>
        </p:txBody>
      </p:sp>
      <p:sp>
        <p:nvSpPr>
          <p:cNvPr id="21" name="TextBox 20"/>
          <p:cNvSpPr txBox="1"/>
          <p:nvPr/>
        </p:nvSpPr>
        <p:spPr>
          <a:xfrm>
            <a:off x="5314950" y="2919412"/>
            <a:ext cx="666750" cy="323850"/>
          </a:xfrm>
          <a:prstGeom prst="rect">
            <a:avLst/>
          </a:prstGeom>
          <a:noFill/>
        </p:spPr>
        <p:txBody>
          <a:bodyPr wrap="square" lIns="0" rIns="0" tIns="0" bIns="0" anchor="t">
            <a:spAutoFit/>
          </a:bodyPr>
          <a:lstStyle/>
          <a:p>
            <a:pPr algn="r"/>
            <a:r>
              <a:rPr b="1" sz="1050" i="0" u="none">
                <a:solidFill>
                  <a:srgbClr val="16A34A"/>
                </a:solidFill>
                <a:latin typeface="Inter"/>
              </a:rPr>
              <a:t>Bắt Được</a:t>
            </a:r>
          </a:p>
        </p:txBody>
      </p:sp>
      <p:sp>
        <p:nvSpPr>
          <p:cNvPr id="22" name="TextBox 21"/>
          <p:cNvSpPr txBox="1"/>
          <p:nvPr/>
        </p:nvSpPr>
        <p:spPr>
          <a:xfrm>
            <a:off x="923925" y="3462337"/>
            <a:ext cx="1666875" cy="190500"/>
          </a:xfrm>
          <a:prstGeom prst="rect">
            <a:avLst/>
          </a:prstGeom>
          <a:noFill/>
        </p:spPr>
        <p:txBody>
          <a:bodyPr wrap="none" lIns="0" rIns="0" tIns="0" bIns="0" anchor="t">
            <a:spAutoFit/>
          </a:bodyPr>
          <a:lstStyle/>
          <a:p>
            <a:pPr algn="l"/>
            <a:r>
              <a:rPr b="1" sz="1200" i="0" u="none">
                <a:solidFill>
                  <a:srgbClr val="475569"/>
                </a:solidFill>
                <a:latin typeface="Inter"/>
              </a:rPr>
              <a:t>B14 (Ngưỡng)</a:t>
            </a:r>
          </a:p>
        </p:txBody>
      </p:sp>
      <p:sp>
        <p:nvSpPr>
          <p:cNvPr id="23" name="TextBox 22"/>
          <p:cNvSpPr txBox="1"/>
          <p:nvPr/>
        </p:nvSpPr>
        <p:spPr>
          <a:xfrm>
            <a:off x="5314950" y="3395662"/>
            <a:ext cx="666750" cy="323850"/>
          </a:xfrm>
          <a:prstGeom prst="rect">
            <a:avLst/>
          </a:prstGeom>
          <a:noFill/>
        </p:spPr>
        <p:txBody>
          <a:bodyPr wrap="square" lIns="0" rIns="0" tIns="0" bIns="0" anchor="t">
            <a:spAutoFit/>
          </a:bodyPr>
          <a:lstStyle/>
          <a:p>
            <a:pPr algn="r"/>
            <a:r>
              <a:rPr b="1" sz="1050" i="0" u="none">
                <a:solidFill>
                  <a:srgbClr val="16A34A"/>
                </a:solidFill>
                <a:latin typeface="Inter"/>
              </a:rPr>
              <a:t>Bắt Được</a:t>
            </a:r>
          </a:p>
        </p:txBody>
      </p:sp>
      <p:sp>
        <p:nvSpPr>
          <p:cNvPr id="24" name="TextBox 23"/>
          <p:cNvSpPr txBox="1"/>
          <p:nvPr/>
        </p:nvSpPr>
        <p:spPr>
          <a:xfrm>
            <a:off x="923925" y="3938587"/>
            <a:ext cx="1666875" cy="190500"/>
          </a:xfrm>
          <a:prstGeom prst="rect">
            <a:avLst/>
          </a:prstGeom>
          <a:noFill/>
        </p:spPr>
        <p:txBody>
          <a:bodyPr wrap="none" lIns="0" rIns="0" tIns="0" bIns="0" anchor="t">
            <a:spAutoFit/>
          </a:bodyPr>
          <a:lstStyle/>
          <a:p>
            <a:pPr algn="l"/>
            <a:r>
              <a:rPr b="1" sz="1200" i="0" u="none">
                <a:solidFill>
                  <a:srgbClr val="475569"/>
                </a:solidFill>
                <a:latin typeface="Inter"/>
              </a:rPr>
              <a:t>B26 (No Auth)</a:t>
            </a:r>
          </a:p>
        </p:txBody>
      </p:sp>
      <p:sp>
        <p:nvSpPr>
          <p:cNvPr id="25" name="TextBox 24"/>
          <p:cNvSpPr txBox="1"/>
          <p:nvPr/>
        </p:nvSpPr>
        <p:spPr>
          <a:xfrm>
            <a:off x="5314950" y="3871912"/>
            <a:ext cx="666750" cy="323850"/>
          </a:xfrm>
          <a:prstGeom prst="rect">
            <a:avLst/>
          </a:prstGeom>
          <a:noFill/>
        </p:spPr>
        <p:txBody>
          <a:bodyPr wrap="square" lIns="0" rIns="0" tIns="0" bIns="0" anchor="t">
            <a:spAutoFit/>
          </a:bodyPr>
          <a:lstStyle/>
          <a:p>
            <a:pPr algn="r"/>
            <a:r>
              <a:rPr b="1" sz="1050" i="0" u="none">
                <a:solidFill>
                  <a:srgbClr val="16A34A"/>
                </a:solidFill>
                <a:latin typeface="Inter"/>
              </a:rPr>
              <a:t>Bắt Được</a:t>
            </a:r>
          </a:p>
        </p:txBody>
      </p:sp>
      <p:sp>
        <p:nvSpPr>
          <p:cNvPr id="26" name="TextBox 25"/>
          <p:cNvSpPr txBox="1"/>
          <p:nvPr/>
        </p:nvSpPr>
        <p:spPr>
          <a:xfrm>
            <a:off x="923925" y="4414837"/>
            <a:ext cx="1666875" cy="190500"/>
          </a:xfrm>
          <a:prstGeom prst="rect">
            <a:avLst/>
          </a:prstGeom>
          <a:noFill/>
        </p:spPr>
        <p:txBody>
          <a:bodyPr wrap="none" lIns="0" rIns="0" tIns="0" bIns="0" anchor="t">
            <a:spAutoFit/>
          </a:bodyPr>
          <a:lstStyle/>
          <a:p>
            <a:pPr algn="l"/>
            <a:r>
              <a:rPr b="1" sz="1200" i="0" u="none">
                <a:solidFill>
                  <a:srgbClr val="475569"/>
                </a:solidFill>
                <a:latin typeface="Inter"/>
              </a:rPr>
              <a:t>B24 (Hỏng Role)</a:t>
            </a:r>
          </a:p>
        </p:txBody>
      </p:sp>
      <p:sp>
        <p:nvSpPr>
          <p:cNvPr id="27" name="TextBox 26"/>
          <p:cNvSpPr txBox="1"/>
          <p:nvPr/>
        </p:nvSpPr>
        <p:spPr>
          <a:xfrm>
            <a:off x="5314950" y="4348162"/>
            <a:ext cx="666750" cy="323850"/>
          </a:xfrm>
          <a:prstGeom prst="rect">
            <a:avLst/>
          </a:prstGeom>
          <a:noFill/>
        </p:spPr>
        <p:txBody>
          <a:bodyPr wrap="square" lIns="0" rIns="0" tIns="0" bIns="0" anchor="t">
            <a:spAutoFit/>
          </a:bodyPr>
          <a:lstStyle/>
          <a:p>
            <a:pPr algn="r"/>
            <a:r>
              <a:rPr b="1" sz="1050" i="0" u="none">
                <a:solidFill>
                  <a:srgbClr val="16A34A"/>
                </a:solidFill>
                <a:latin typeface="Inter"/>
              </a:rPr>
              <a:t>Bắt Được</a:t>
            </a:r>
          </a:p>
        </p:txBody>
      </p:sp>
      <p:sp>
        <p:nvSpPr>
          <p:cNvPr id="28" name="TextBox 27"/>
          <p:cNvSpPr txBox="1"/>
          <p:nvPr/>
        </p:nvSpPr>
        <p:spPr>
          <a:xfrm>
            <a:off x="923925" y="4843462"/>
            <a:ext cx="1666875" cy="190500"/>
          </a:xfrm>
          <a:prstGeom prst="rect">
            <a:avLst/>
          </a:prstGeom>
          <a:noFill/>
        </p:spPr>
        <p:txBody>
          <a:bodyPr wrap="none" lIns="0" rIns="0" tIns="0" bIns="0" anchor="t">
            <a:spAutoFit/>
          </a:bodyPr>
          <a:lstStyle/>
          <a:p>
            <a:pPr algn="l"/>
            <a:r>
              <a:rPr b="1" sz="1200" i="0" u="none">
                <a:solidFill>
                  <a:srgbClr val="475569"/>
                </a:solidFill>
                <a:latin typeface="Inter"/>
              </a:rPr>
              <a:t>B23 (Bỏ Trường)</a:t>
            </a:r>
          </a:p>
        </p:txBody>
      </p:sp>
      <p:sp>
        <p:nvSpPr>
          <p:cNvPr id="29" name="TextBox 28"/>
          <p:cNvSpPr txBox="1"/>
          <p:nvPr/>
        </p:nvSpPr>
        <p:spPr>
          <a:xfrm>
            <a:off x="5124450" y="4857750"/>
            <a:ext cx="857250" cy="161925"/>
          </a:xfrm>
          <a:prstGeom prst="rect">
            <a:avLst/>
          </a:prstGeom>
          <a:noFill/>
        </p:spPr>
        <p:txBody>
          <a:bodyPr wrap="none" lIns="0" rIns="0" tIns="0" bIns="0" anchor="t">
            <a:spAutoFit/>
          </a:bodyPr>
          <a:lstStyle/>
          <a:p>
            <a:pPr algn="r"/>
            <a:r>
              <a:rPr b="1" sz="1050" i="0" u="none">
                <a:solidFill>
                  <a:srgbClr val="EF4444"/>
                </a:solidFill>
                <a:latin typeface="Inter"/>
              </a:rPr>
              <a:t>Bỏ Sót</a:t>
            </a:r>
          </a:p>
        </p:txBody>
      </p:sp>
      <p:sp>
        <p:nvSpPr>
          <p:cNvPr id="30" name="TextBox 29"/>
          <p:cNvSpPr txBox="1"/>
          <p:nvPr/>
        </p:nvSpPr>
        <p:spPr>
          <a:xfrm>
            <a:off x="6762750" y="3124200"/>
            <a:ext cx="5429250" cy="228600"/>
          </a:xfrm>
          <a:prstGeom prst="rect">
            <a:avLst/>
          </a:prstGeom>
          <a:noFill/>
        </p:spPr>
        <p:txBody>
          <a:bodyPr wrap="none" lIns="0" rIns="0" tIns="0" bIns="0" anchor="t">
            <a:spAutoFit/>
          </a:bodyPr>
          <a:lstStyle/>
          <a:p>
            <a:pPr algn="l"/>
            <a:r>
              <a:rPr b="1" sz="1500" i="0" u="none">
                <a:solidFill>
                  <a:srgbClr val="1E293B"/>
                </a:solidFill>
                <a:latin typeface="Inter"/>
              </a:rPr>
              <a:t>Đánh Giá Tương Quan</a:t>
            </a:r>
          </a:p>
        </p:txBody>
      </p:sp>
      <p:sp>
        <p:nvSpPr>
          <p:cNvPr id="31" name="TextBox 30"/>
          <p:cNvSpPr txBox="1"/>
          <p:nvPr/>
        </p:nvSpPr>
        <p:spPr>
          <a:xfrm>
            <a:off x="6762750" y="3467100"/>
            <a:ext cx="4676775" cy="914400"/>
          </a:xfrm>
          <a:prstGeom prst="rect">
            <a:avLst/>
          </a:prstGeom>
          <a:noFill/>
        </p:spPr>
        <p:txBody>
          <a:bodyPr wrap="square" lIns="0" rIns="0" tIns="0" bIns="0" anchor="t">
            <a:spAutoFit/>
          </a:bodyPr>
          <a:lstStyle/>
          <a:p>
            <a:pPr algn="l">
              <a:lnSpc>
                <a:spcPts val="1800"/>
              </a:lnSpc>
            </a:pPr>
            <a:r>
              <a:rPr b="0" sz="1200" i="0" u="none">
                <a:solidFill>
                  <a:srgbClr val="475569"/>
                </a:solidFill>
                <a:latin typeface="Inter"/>
              </a:rPr>
              <a:t>Workflow bắt được 4/5 lỗi đã biết. Tuy nhiên, 3/4 lỗi bị bắt trùng với </a:t>
            </a:r>
            <a:r>
              <a:rPr b="1" sz="1200" i="0" u="none">
                <a:solidFill>
                  <a:srgbClr val="475569"/>
                </a:solidFill>
                <a:latin typeface="Inter"/>
              </a:rPr>
              <a:t>kịch bản mẫu (examples/coupon.feature)</a:t>
            </a:r>
            <a:r>
              <a:rPr b="0" sz="1200" i="0" u="none">
                <a:solidFill>
                  <a:srgbClr val="475569"/>
                </a:solidFill>
                <a:latin typeface="Inter"/>
              </a:rPr>
              <a:t> của chính bộ skill, làm giảm tính khách quan về năng lực tự khám phá của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907506"/>
            <a:ext cx="3505200" cy="1690687"/>
          </a:xfrm>
          <a:prstGeom prst="roundRect">
            <a:avLst>
              <a:gd name="adj" fmla="val 676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786062"/>
            <a:ext cx="3505200" cy="1933575"/>
          </a:xfrm>
          <a:prstGeom prst="roundRect">
            <a:avLst>
              <a:gd name="adj" fmla="val 5911"/>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907506"/>
            <a:ext cx="3505200" cy="1690687"/>
          </a:xfrm>
          <a:prstGeom prst="roundRect">
            <a:avLst>
              <a:gd name="adj" fmla="val 676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4588668"/>
            <a:ext cx="3505200" cy="9525"/>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907506"/>
            <a:ext cx="3505200" cy="381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2907506"/>
            <a:ext cx="9525" cy="1690687"/>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05275" y="2907506"/>
            <a:ext cx="9525" cy="1690687"/>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4710112"/>
            <a:ext cx="3505200" cy="9525"/>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2786062"/>
            <a:ext cx="3505200" cy="381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786062"/>
            <a:ext cx="9525" cy="1933575"/>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39075" y="2786062"/>
            <a:ext cx="9525" cy="1933575"/>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7200" y="4588668"/>
            <a:ext cx="3505200" cy="9525"/>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77200" y="2907506"/>
            <a:ext cx="3505200" cy="381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77200" y="2907506"/>
            <a:ext cx="9525" cy="1690687"/>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572875" y="2907506"/>
            <a:ext cx="9525" cy="1690687"/>
          </a:xfrm>
          <a:prstGeom prst="rect">
            <a:avLst/>
          </a:prstGeom>
          <a:solidFill>
            <a:srgbClr val="BBF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2"/>
          <a:stretch>
            <a:fillRect/>
          </a:stretch>
        </p:blipFill>
        <p:spPr>
          <a:xfrm>
            <a:off x="885825" y="3212306"/>
            <a:ext cx="285750" cy="228600"/>
          </a:xfrm>
          <a:prstGeom prst="rect">
            <a:avLst/>
          </a:prstGeom>
        </p:spPr>
      </p:pic>
      <p:pic>
        <p:nvPicPr>
          <p:cNvPr id="18" name="Picture 17" descr="image.png"/>
          <p:cNvPicPr>
            <a:picLocks noChangeAspect="1"/>
          </p:cNvPicPr>
          <p:nvPr/>
        </p:nvPicPr>
        <p:blipFill>
          <a:blip r:embed="rId3"/>
          <a:stretch>
            <a:fillRect/>
          </a:stretch>
        </p:blipFill>
        <p:spPr>
          <a:xfrm>
            <a:off x="4619625" y="3090862"/>
            <a:ext cx="171450" cy="228600"/>
          </a:xfrm>
          <a:prstGeom prst="rect">
            <a:avLst/>
          </a:prstGeom>
        </p:spPr>
      </p:pic>
      <p:pic>
        <p:nvPicPr>
          <p:cNvPr id="19" name="Picture 18" descr="image.png"/>
          <p:cNvPicPr>
            <a:picLocks noChangeAspect="1"/>
          </p:cNvPicPr>
          <p:nvPr/>
        </p:nvPicPr>
        <p:blipFill>
          <a:blip r:embed="rId4"/>
          <a:stretch>
            <a:fillRect/>
          </a:stretch>
        </p:blipFill>
        <p:spPr>
          <a:xfrm>
            <a:off x="8353425" y="3212306"/>
            <a:ext cx="285750" cy="228600"/>
          </a:xfrm>
          <a:prstGeom prst="rect">
            <a:avLst/>
          </a:prstGeom>
        </p:spPr>
      </p:pic>
      <p:sp>
        <p:nvSpPr>
          <p:cNvPr id="20" name="TextBox 19"/>
          <p:cNvSpPr txBox="1"/>
          <p:nvPr/>
        </p:nvSpPr>
        <p:spPr>
          <a:xfrm>
            <a:off x="609600" y="45720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Điểm Mạnh Của AI Workflow</a:t>
            </a:r>
          </a:p>
        </p:txBody>
      </p:sp>
      <p:sp>
        <p:nvSpPr>
          <p:cNvPr id="21" name="TextBox 20"/>
          <p:cNvSpPr txBox="1"/>
          <p:nvPr/>
        </p:nvSpPr>
        <p:spPr>
          <a:xfrm>
            <a:off x="885825" y="3593306"/>
            <a:ext cx="3048000" cy="728662"/>
          </a:xfrm>
          <a:prstGeom prst="rect">
            <a:avLst/>
          </a:prstGeom>
          <a:noFill/>
        </p:spPr>
        <p:txBody>
          <a:bodyPr wrap="square" lIns="0" rIns="0" tIns="0" bIns="0" anchor="t">
            <a:spAutoFit/>
          </a:bodyPr>
          <a:lstStyle/>
          <a:p>
            <a:pPr algn="l">
              <a:lnSpc>
                <a:spcPts val="1912"/>
              </a:lnSpc>
            </a:pPr>
            <a:r>
              <a:rPr b="0" sz="1275" i="0" u="none">
                <a:solidFill>
                  <a:srgbClr val="334155"/>
                </a:solidFill>
                <a:latin typeface="Inter"/>
              </a:rPr>
              <a:t>13/13 Ca duyệt đều có Scenario mang thẻ </a:t>
            </a:r>
            <a:r>
              <a:rPr b="0" sz="1275" i="0" u="none">
                <a:solidFill>
                  <a:srgbClr val="334155"/>
                </a:solidFill>
                <a:latin typeface="Inter"/>
              </a:rPr>
              <a:t>@ID</a:t>
            </a:r>
            <a:r>
              <a:rPr b="0" sz="1275" i="0" u="none">
                <a:solidFill>
                  <a:srgbClr val="334155"/>
                </a:solidFill>
                <a:latin typeface="Inter"/>
              </a:rPr>
              <a:t> trùng khớp Matrix. Script Python báo Coverage 100% sạch sẽ.</a:t>
            </a:r>
          </a:p>
        </p:txBody>
      </p:sp>
      <p:sp>
        <p:nvSpPr>
          <p:cNvPr id="22" name="TextBox 21"/>
          <p:cNvSpPr txBox="1"/>
          <p:nvPr/>
        </p:nvSpPr>
        <p:spPr>
          <a:xfrm>
            <a:off x="4619625" y="3471862"/>
            <a:ext cx="3048000" cy="971550"/>
          </a:xfrm>
          <a:prstGeom prst="rect">
            <a:avLst/>
          </a:prstGeom>
          <a:noFill/>
        </p:spPr>
        <p:txBody>
          <a:bodyPr wrap="square" lIns="0" rIns="0" tIns="0" bIns="0" anchor="t">
            <a:spAutoFit/>
          </a:bodyPr>
          <a:lstStyle/>
          <a:p>
            <a:pPr algn="l">
              <a:lnSpc>
                <a:spcPts val="1912"/>
              </a:lnSpc>
            </a:pPr>
            <a:r>
              <a:rPr b="0" sz="1275" i="0" u="none">
                <a:solidFill>
                  <a:srgbClr val="334155"/>
                </a:solidFill>
                <a:latin typeface="Inter"/>
              </a:rPr>
              <a:t>AI tự tính toán số tiền giảm giá chính xác theo đặc tả SRS (AC01, AC03), không chép nhặt dữ liệu mù quáng từ API response.</a:t>
            </a:r>
          </a:p>
        </p:txBody>
      </p:sp>
      <p:sp>
        <p:nvSpPr>
          <p:cNvPr id="23" name="TextBox 22"/>
          <p:cNvSpPr txBox="1"/>
          <p:nvPr/>
        </p:nvSpPr>
        <p:spPr>
          <a:xfrm>
            <a:off x="8353425" y="3593306"/>
            <a:ext cx="3048000" cy="728662"/>
          </a:xfrm>
          <a:prstGeom prst="rect">
            <a:avLst/>
          </a:prstGeom>
          <a:noFill/>
        </p:spPr>
        <p:txBody>
          <a:bodyPr wrap="square" lIns="0" rIns="0" tIns="0" bIns="0" anchor="t">
            <a:spAutoFit/>
          </a:bodyPr>
          <a:lstStyle/>
          <a:p>
            <a:pPr algn="l">
              <a:lnSpc>
                <a:spcPts val="1912"/>
              </a:lnSpc>
            </a:pPr>
            <a:r>
              <a:rPr b="0" sz="1275" i="0" u="none">
                <a:solidFill>
                  <a:srgbClr val="334155"/>
                </a:solidFill>
                <a:latin typeface="Inter"/>
              </a:rPr>
              <a:t>Khi SRS yêu cầu Đăng nhập nhưng OpenAPI bỏ qua, AI đã ưu tiên chọn đúng SRS làm chân lý chuẩn (AC07).</a:t>
            </a:r>
          </a:p>
        </p:txBody>
      </p:sp>
      <p:sp>
        <p:nvSpPr>
          <p:cNvPr id="24" name="TextBox 23"/>
          <p:cNvSpPr txBox="1"/>
          <p:nvPr/>
        </p:nvSpPr>
        <p:spPr>
          <a:xfrm>
            <a:off x="1285875" y="3212306"/>
            <a:ext cx="1987748" cy="228600"/>
          </a:xfrm>
          <a:prstGeom prst="rect">
            <a:avLst/>
          </a:prstGeom>
          <a:noFill/>
        </p:spPr>
        <p:txBody>
          <a:bodyPr wrap="none" lIns="0" rIns="0" tIns="0" bIns="0" anchor="t">
            <a:spAutoFit/>
          </a:bodyPr>
          <a:lstStyle/>
          <a:p>
            <a:pPr algn="l"/>
            <a:r>
              <a:rPr b="1" sz="1500" i="0" u="none">
                <a:solidFill>
                  <a:srgbClr val="15803D"/>
                </a:solidFill>
                <a:latin typeface="Inter"/>
              </a:rPr>
              <a:t>Truy Vết Đầy Đủ</a:t>
            </a:r>
          </a:p>
        </p:txBody>
      </p:sp>
      <p:sp>
        <p:nvSpPr>
          <p:cNvPr id="25" name="TextBox 24"/>
          <p:cNvSpPr txBox="1"/>
          <p:nvPr/>
        </p:nvSpPr>
        <p:spPr>
          <a:xfrm>
            <a:off x="4905375" y="3090862"/>
            <a:ext cx="3087885" cy="228600"/>
          </a:xfrm>
          <a:prstGeom prst="rect">
            <a:avLst/>
          </a:prstGeom>
          <a:noFill/>
        </p:spPr>
        <p:txBody>
          <a:bodyPr wrap="none" lIns="0" rIns="0" tIns="0" bIns="0" anchor="t">
            <a:spAutoFit/>
          </a:bodyPr>
          <a:lstStyle/>
          <a:p>
            <a:pPr algn="l"/>
            <a:r>
              <a:rPr b="1" sz="1500" i="0" u="none">
                <a:solidFill>
                  <a:srgbClr val="15803D"/>
                </a:solidFill>
                <a:latin typeface="Inter"/>
              </a:rPr>
              <a:t>Kỳ Vọng Toán Học Chuẩn</a:t>
            </a:r>
          </a:p>
        </p:txBody>
      </p:sp>
      <p:sp>
        <p:nvSpPr>
          <p:cNvPr id="26" name="TextBox 25"/>
          <p:cNvSpPr txBox="1"/>
          <p:nvPr/>
        </p:nvSpPr>
        <p:spPr>
          <a:xfrm>
            <a:off x="8753475" y="3212306"/>
            <a:ext cx="2662832" cy="228600"/>
          </a:xfrm>
          <a:prstGeom prst="rect">
            <a:avLst/>
          </a:prstGeom>
          <a:noFill/>
        </p:spPr>
        <p:txBody>
          <a:bodyPr wrap="none" lIns="0" rIns="0" tIns="0" bIns="0" anchor="t">
            <a:spAutoFit/>
          </a:bodyPr>
          <a:lstStyle/>
          <a:p>
            <a:pPr algn="l"/>
            <a:r>
              <a:rPr b="1" sz="1500" i="0" u="none">
                <a:solidFill>
                  <a:srgbClr val="15803D"/>
                </a:solidFill>
                <a:latin typeface="Inter"/>
              </a:rPr>
              <a:t>Xử Lý Mâu Thuẫn SRS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1104900"/>
            <a:ext cx="10972800" cy="885825"/>
          </a:xfrm>
          <a:prstGeom prst="roundRect">
            <a:avLst>
              <a:gd name="adj" fmla="val 86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143125"/>
            <a:ext cx="10972800" cy="885825"/>
          </a:xfrm>
          <a:prstGeom prst="roundRect">
            <a:avLst>
              <a:gd name="adj" fmla="val 86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181350"/>
            <a:ext cx="10972800" cy="885825"/>
          </a:xfrm>
          <a:prstGeom prst="roundRect">
            <a:avLst>
              <a:gd name="adj" fmla="val 86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4219575"/>
            <a:ext cx="10972800" cy="885825"/>
          </a:xfrm>
          <a:prstGeom prst="roundRect">
            <a:avLst>
              <a:gd name="adj" fmla="val 860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981200"/>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104900"/>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1104900"/>
            <a:ext cx="38100" cy="88582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72875" y="1104900"/>
            <a:ext cx="9525" cy="885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30194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21431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600" y="2143125"/>
            <a:ext cx="38100" cy="885825"/>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72875" y="2143125"/>
            <a:ext cx="9525" cy="885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600" y="4057650"/>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600" y="3181350"/>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600" y="3181350"/>
            <a:ext cx="38100" cy="88582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572875" y="3181350"/>
            <a:ext cx="9525" cy="885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600" y="509587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600" y="421957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600" y="4219575"/>
            <a:ext cx="38100" cy="88582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72875" y="4219575"/>
            <a:ext cx="9525" cy="8858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600" y="45720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Lỗ Hổng &amp; Rủi Ro Quy Trình (Người &amp; Máy)</a:t>
            </a:r>
          </a:p>
        </p:txBody>
      </p:sp>
      <p:sp>
        <p:nvSpPr>
          <p:cNvPr id="23" name="TextBox 22"/>
          <p:cNvSpPr txBox="1"/>
          <p:nvPr/>
        </p:nvSpPr>
        <p:spPr>
          <a:xfrm>
            <a:off x="838200" y="1304925"/>
            <a:ext cx="11353800" cy="219075"/>
          </a:xfrm>
          <a:prstGeom prst="rect">
            <a:avLst/>
          </a:prstGeom>
          <a:noFill/>
        </p:spPr>
        <p:txBody>
          <a:bodyPr wrap="none" lIns="0" rIns="0" tIns="0" bIns="0" anchor="t">
            <a:spAutoFit/>
          </a:bodyPr>
          <a:lstStyle/>
          <a:p>
            <a:pPr algn="l"/>
            <a:r>
              <a:rPr b="1" sz="1425" i="0" u="none">
                <a:solidFill>
                  <a:srgbClr val="B91C1C"/>
                </a:solidFill>
                <a:latin typeface="Inter"/>
              </a:rPr>
              <a:t>1. Rò Rỉ Kỳ Vọng Từ Nguồn Không Khớp</a:t>
            </a:r>
          </a:p>
        </p:txBody>
      </p:sp>
      <p:sp>
        <p:nvSpPr>
          <p:cNvPr id="24" name="TextBox 23"/>
          <p:cNvSpPr txBox="1"/>
          <p:nvPr/>
        </p:nvSpPr>
        <p:spPr>
          <a:xfrm>
            <a:off x="838200" y="1600200"/>
            <a:ext cx="11353800" cy="190500"/>
          </a:xfrm>
          <a:prstGeom prst="rect">
            <a:avLst/>
          </a:prstGeom>
          <a:noFill/>
        </p:spPr>
        <p:txBody>
          <a:bodyPr wrap="none" lIns="0" rIns="0" tIns="0" bIns="0" anchor="t">
            <a:spAutoFit/>
          </a:bodyPr>
          <a:lstStyle/>
          <a:p>
            <a:pPr algn="l"/>
            <a:r>
              <a:rPr b="0" sz="1200" i="0" u="none">
                <a:solidFill>
                  <a:srgbClr val="475569"/>
                </a:solidFill>
                <a:latin typeface="Inter"/>
              </a:rPr>
              <a:t>Chuỗi thông báo lỗi (AC08, AC10) không có trong SRS, do AI bí mật xem lén file </a:t>
            </a:r>
            <a:r>
              <a:rPr b="0" sz="1200" i="0" u="none">
                <a:solidFill>
                  <a:srgbClr val="475569"/>
                </a:solidFill>
                <a:latin typeface="Inter"/>
              </a:rPr>
              <a:t>server.js</a:t>
            </a:r>
            <a:r>
              <a:rPr b="0" sz="1200" i="0" u="none">
                <a:solidFill>
                  <a:srgbClr val="475569"/>
                </a:solidFill>
                <a:latin typeface="Inter"/>
              </a:rPr>
              <a:t> 9 lần.</a:t>
            </a:r>
          </a:p>
        </p:txBody>
      </p:sp>
      <p:sp>
        <p:nvSpPr>
          <p:cNvPr id="25" name="TextBox 24"/>
          <p:cNvSpPr txBox="1"/>
          <p:nvPr/>
        </p:nvSpPr>
        <p:spPr>
          <a:xfrm>
            <a:off x="838200" y="2343150"/>
            <a:ext cx="11353800" cy="219075"/>
          </a:xfrm>
          <a:prstGeom prst="rect">
            <a:avLst/>
          </a:prstGeom>
          <a:noFill/>
        </p:spPr>
        <p:txBody>
          <a:bodyPr wrap="none" lIns="0" rIns="0" tIns="0" bIns="0" anchor="t">
            <a:spAutoFit/>
          </a:bodyPr>
          <a:lstStyle/>
          <a:p>
            <a:pPr algn="l"/>
            <a:r>
              <a:rPr b="1" sz="1425" i="0" u="none">
                <a:solidFill>
                  <a:srgbClr val="B91C1C"/>
                </a:solidFill>
                <a:latin typeface="Inter"/>
              </a:rPr>
              <a:t>2. Kiểm Tra Cú Pháp Bị Bịt Mắt</a:t>
            </a:r>
          </a:p>
        </p:txBody>
      </p:sp>
      <p:sp>
        <p:nvSpPr>
          <p:cNvPr id="26" name="TextBox 25"/>
          <p:cNvSpPr txBox="1"/>
          <p:nvPr/>
        </p:nvSpPr>
        <p:spPr>
          <a:xfrm>
            <a:off x="838200" y="2638425"/>
            <a:ext cx="11353800" cy="190500"/>
          </a:xfrm>
          <a:prstGeom prst="rect">
            <a:avLst/>
          </a:prstGeom>
          <a:noFill/>
        </p:spPr>
        <p:txBody>
          <a:bodyPr wrap="none" lIns="0" rIns="0" tIns="0" bIns="0" anchor="t">
            <a:spAutoFit/>
          </a:bodyPr>
          <a:lstStyle/>
          <a:p>
            <a:pPr algn="l"/>
            <a:r>
              <a:rPr b="0" sz="1200" i="0" u="none">
                <a:solidFill>
                  <a:srgbClr val="475569"/>
                </a:solidFill>
                <a:latin typeface="Inter"/>
              </a:rPr>
              <a:t>Lỗi biến Karate (</a:t>
            </a:r>
            <a:r>
              <a:rPr b="0" sz="1200" i="0" u="none">
                <a:solidFill>
                  <a:srgbClr val="475569"/>
                </a:solidFill>
                <a:latin typeface="Inter"/>
              </a:rPr>
              <a:t>user_id: u.id</a:t>
            </a:r>
            <a:r>
              <a:rPr b="0" sz="1200" i="0" u="none">
                <a:solidFill>
                  <a:srgbClr val="475569"/>
                </a:solidFill>
                <a:latin typeface="Inter"/>
              </a:rPr>
              <a:t> ở AC10) vượt qua cả Python Checker lẫn mắt người duyệt, dẫn đến test chết khi chạy thật.</a:t>
            </a:r>
          </a:p>
        </p:txBody>
      </p:sp>
      <p:sp>
        <p:nvSpPr>
          <p:cNvPr id="27" name="TextBox 26"/>
          <p:cNvSpPr txBox="1"/>
          <p:nvPr/>
        </p:nvSpPr>
        <p:spPr>
          <a:xfrm>
            <a:off x="838200" y="3381375"/>
            <a:ext cx="11353800" cy="219075"/>
          </a:xfrm>
          <a:prstGeom prst="rect">
            <a:avLst/>
          </a:prstGeom>
          <a:noFill/>
        </p:spPr>
        <p:txBody>
          <a:bodyPr wrap="none" lIns="0" rIns="0" tIns="0" bIns="0" anchor="t">
            <a:spAutoFit/>
          </a:bodyPr>
          <a:lstStyle/>
          <a:p>
            <a:pPr algn="l"/>
            <a:r>
              <a:rPr b="1" sz="1425" i="0" u="none">
                <a:solidFill>
                  <a:srgbClr val="B45309"/>
                </a:solidFill>
                <a:latin typeface="Inter"/>
              </a:rPr>
              <a:t>3. Bước Duyệt Phù Phiếm</a:t>
            </a:r>
          </a:p>
        </p:txBody>
      </p:sp>
      <p:sp>
        <p:nvSpPr>
          <p:cNvPr id="28" name="TextBox 27"/>
          <p:cNvSpPr txBox="1"/>
          <p:nvPr/>
        </p:nvSpPr>
        <p:spPr>
          <a:xfrm>
            <a:off x="838200" y="3676650"/>
            <a:ext cx="11353800" cy="190500"/>
          </a:xfrm>
          <a:prstGeom prst="rect">
            <a:avLst/>
          </a:prstGeom>
          <a:noFill/>
        </p:spPr>
        <p:txBody>
          <a:bodyPr wrap="none" lIns="0" rIns="0" tIns="0" bIns="0" anchor="t">
            <a:spAutoFit/>
          </a:bodyPr>
          <a:lstStyle/>
          <a:p>
            <a:pPr algn="l"/>
            <a:r>
              <a:rPr b="0" sz="1200" i="0" u="none">
                <a:solidFill>
                  <a:srgbClr val="475569"/>
                </a:solidFill>
                <a:latin typeface="Inter"/>
              </a:rPr>
              <a:t>Người duyệt cho qua toàn bộ 13 Ca mà không loại, không thêm, và không phát hiện bất kỳ assertion lỏng lẻo nào.</a:t>
            </a:r>
          </a:p>
        </p:txBody>
      </p:sp>
      <p:sp>
        <p:nvSpPr>
          <p:cNvPr id="29" name="TextBox 28"/>
          <p:cNvSpPr txBox="1"/>
          <p:nvPr/>
        </p:nvSpPr>
        <p:spPr>
          <a:xfrm>
            <a:off x="838200" y="4419600"/>
            <a:ext cx="11353800" cy="219075"/>
          </a:xfrm>
          <a:prstGeom prst="rect">
            <a:avLst/>
          </a:prstGeom>
          <a:noFill/>
        </p:spPr>
        <p:txBody>
          <a:bodyPr wrap="none" lIns="0" rIns="0" tIns="0" bIns="0" anchor="t">
            <a:spAutoFit/>
          </a:bodyPr>
          <a:lstStyle/>
          <a:p>
            <a:pPr algn="l"/>
            <a:r>
              <a:rPr b="1" sz="1425" i="0" u="none">
                <a:solidFill>
                  <a:srgbClr val="B45309"/>
                </a:solidFill>
                <a:latin typeface="Inter"/>
              </a:rPr>
              <a:t>4. Hạn Chế Xác Minh Thủ Công</a:t>
            </a:r>
          </a:p>
        </p:txBody>
      </p:sp>
      <p:sp>
        <p:nvSpPr>
          <p:cNvPr id="30" name="TextBox 29"/>
          <p:cNvSpPr txBox="1"/>
          <p:nvPr/>
        </p:nvSpPr>
        <p:spPr>
          <a:xfrm>
            <a:off x="838200" y="4714875"/>
            <a:ext cx="11353800" cy="190500"/>
          </a:xfrm>
          <a:prstGeom prst="rect">
            <a:avLst/>
          </a:prstGeom>
          <a:noFill/>
        </p:spPr>
        <p:txBody>
          <a:bodyPr wrap="none" lIns="0" rIns="0" tIns="0" bIns="0" anchor="t">
            <a:spAutoFit/>
          </a:bodyPr>
          <a:lstStyle/>
          <a:p>
            <a:pPr algn="l"/>
            <a:r>
              <a:rPr b="0" sz="1200" i="0" u="none">
                <a:solidFill>
                  <a:srgbClr val="475569"/>
                </a:solidFill>
                <a:latin typeface="Inter"/>
              </a:rPr>
              <a:t>Việc gọi trực tiếp API chứng minh lỗi bị AI bỏ qua một phần; người lập báo cáo phải dùng lại Postman để chẩn đoán AC10.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219200" y="2769393"/>
            <a:ext cx="3048000" cy="2081212"/>
          </a:xfrm>
          <a:prstGeom prst="roundRect">
            <a:avLst>
              <a:gd name="adj" fmla="val 549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0" y="2769393"/>
            <a:ext cx="3048000" cy="2081212"/>
          </a:xfrm>
          <a:prstGeom prst="roundRect">
            <a:avLst>
              <a:gd name="adj" fmla="val 549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924800" y="2769393"/>
            <a:ext cx="3048000" cy="2081212"/>
          </a:xfrm>
          <a:prstGeom prst="roundRect">
            <a:avLst>
              <a:gd name="adj" fmla="val 549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2657475" y="3083718"/>
            <a:ext cx="171450" cy="342900"/>
          </a:xfrm>
          <a:prstGeom prst="rect">
            <a:avLst/>
          </a:prstGeom>
        </p:spPr>
      </p:pic>
      <p:pic>
        <p:nvPicPr>
          <p:cNvPr id="6" name="Picture 5" descr="image.png"/>
          <p:cNvPicPr>
            <a:picLocks noChangeAspect="1"/>
          </p:cNvPicPr>
          <p:nvPr/>
        </p:nvPicPr>
        <p:blipFill>
          <a:blip r:embed="rId3"/>
          <a:stretch>
            <a:fillRect/>
          </a:stretch>
        </p:blipFill>
        <p:spPr>
          <a:xfrm>
            <a:off x="5924550" y="3083718"/>
            <a:ext cx="342900" cy="342900"/>
          </a:xfrm>
          <a:prstGeom prst="rect">
            <a:avLst/>
          </a:prstGeom>
        </p:spPr>
      </p:pic>
      <p:pic>
        <p:nvPicPr>
          <p:cNvPr id="7" name="Picture 6" descr="image.png"/>
          <p:cNvPicPr>
            <a:picLocks noChangeAspect="1"/>
          </p:cNvPicPr>
          <p:nvPr/>
        </p:nvPicPr>
        <p:blipFill>
          <a:blip r:embed="rId4"/>
          <a:stretch>
            <a:fillRect/>
          </a:stretch>
        </p:blipFill>
        <p:spPr>
          <a:xfrm>
            <a:off x="9296400" y="3083718"/>
            <a:ext cx="304800" cy="342900"/>
          </a:xfrm>
          <a:prstGeom prst="rect">
            <a:avLst/>
          </a:prstGeom>
        </p:spPr>
      </p:pic>
      <p:sp>
        <p:nvSpPr>
          <p:cNvPr id="8" name="TextBox 7"/>
          <p:cNvSpPr txBox="1"/>
          <p:nvPr/>
        </p:nvSpPr>
        <p:spPr>
          <a:xfrm>
            <a:off x="-381000" y="2007393"/>
            <a:ext cx="12954000" cy="381000"/>
          </a:xfrm>
          <a:prstGeom prst="rect">
            <a:avLst/>
          </a:prstGeom>
          <a:noFill/>
        </p:spPr>
        <p:txBody>
          <a:bodyPr wrap="none" lIns="0" rIns="0" tIns="0" bIns="0" anchor="t">
            <a:spAutoFit/>
          </a:bodyPr>
          <a:lstStyle/>
          <a:p>
            <a:pPr algn="ctr"/>
            <a:r>
              <a:rPr b="1" sz="2400" i="0" u="none">
                <a:solidFill>
                  <a:srgbClr val="0F172A"/>
                </a:solidFill>
                <a:latin typeface="Space Grotesk"/>
              </a:rPr>
              <a:t>Hạn Chế Của Lượt Đánh Giá</a:t>
            </a:r>
          </a:p>
        </p:txBody>
      </p:sp>
      <p:sp>
        <p:nvSpPr>
          <p:cNvPr id="9" name="TextBox 8"/>
          <p:cNvSpPr txBox="1"/>
          <p:nvPr/>
        </p:nvSpPr>
        <p:spPr>
          <a:xfrm>
            <a:off x="1155501" y="3579018"/>
            <a:ext cx="3175396" cy="200025"/>
          </a:xfrm>
          <a:prstGeom prst="rect">
            <a:avLst/>
          </a:prstGeom>
          <a:noFill/>
        </p:spPr>
        <p:txBody>
          <a:bodyPr wrap="none" lIns="0" rIns="0" tIns="0" bIns="0" anchor="t">
            <a:spAutoFit/>
          </a:bodyPr>
          <a:lstStyle/>
          <a:p>
            <a:pPr algn="ctr"/>
            <a:r>
              <a:rPr b="1" sz="1350" i="0" u="none">
                <a:solidFill>
                  <a:srgbClr val="1E293B"/>
                </a:solidFill>
                <a:latin typeface="Inter"/>
              </a:rPr>
              <a:t>Đơn Lẻ &amp; Thiếu Ổn Định</a:t>
            </a:r>
          </a:p>
        </p:txBody>
      </p:sp>
      <p:sp>
        <p:nvSpPr>
          <p:cNvPr id="10" name="TextBox 9"/>
          <p:cNvSpPr txBox="1"/>
          <p:nvPr/>
        </p:nvSpPr>
        <p:spPr>
          <a:xfrm>
            <a:off x="1231106" y="3893343"/>
            <a:ext cx="3024187" cy="642937"/>
          </a:xfrm>
          <a:prstGeom prst="rect">
            <a:avLst/>
          </a:prstGeom>
          <a:noFill/>
        </p:spPr>
        <p:txBody>
          <a:bodyPr wrap="square" lIns="0" rIns="0" tIns="0" bIns="0" anchor="t">
            <a:spAutoFit/>
          </a:bodyPr>
          <a:lstStyle/>
          <a:p>
            <a:pPr algn="ctr">
              <a:lnSpc>
                <a:spcPts val="1687"/>
              </a:lnSpc>
            </a:pPr>
            <a:r>
              <a:rPr b="0" sz="1125" i="0" u="none">
                <a:solidFill>
                  <a:srgbClr val="475569"/>
                </a:solidFill>
                <a:latin typeface="Inter"/>
              </a:rPr>
              <a:t>Chỉ 1 lần chạy, 1 model (Gemini 3.8), trên 1 phạm vi. Cùng đầu vào chạy lại có thể ra matrix hoàn toàn khác.</a:t>
            </a:r>
          </a:p>
        </p:txBody>
      </p:sp>
      <p:sp>
        <p:nvSpPr>
          <p:cNvPr id="11" name="TextBox 10"/>
          <p:cNvSpPr txBox="1"/>
          <p:nvPr/>
        </p:nvSpPr>
        <p:spPr>
          <a:xfrm>
            <a:off x="4508301" y="3579018"/>
            <a:ext cx="3175396" cy="200025"/>
          </a:xfrm>
          <a:prstGeom prst="rect">
            <a:avLst/>
          </a:prstGeom>
          <a:noFill/>
        </p:spPr>
        <p:txBody>
          <a:bodyPr wrap="none" lIns="0" rIns="0" tIns="0" bIns="0" anchor="t">
            <a:spAutoFit/>
          </a:bodyPr>
          <a:lstStyle/>
          <a:p>
            <a:pPr algn="ctr"/>
            <a:r>
              <a:rPr b="1" sz="1350" i="0" u="none">
                <a:solidFill>
                  <a:srgbClr val="1E293B"/>
                </a:solidFill>
                <a:latin typeface="Inter"/>
              </a:rPr>
              <a:t>Trùng Tệp Kịch Bản Mẫu</a:t>
            </a:r>
          </a:p>
        </p:txBody>
      </p:sp>
      <p:sp>
        <p:nvSpPr>
          <p:cNvPr id="12" name="TextBox 11"/>
          <p:cNvSpPr txBox="1"/>
          <p:nvPr/>
        </p:nvSpPr>
        <p:spPr>
          <a:xfrm>
            <a:off x="4583906" y="3893343"/>
            <a:ext cx="3024187" cy="642937"/>
          </a:xfrm>
          <a:prstGeom prst="rect">
            <a:avLst/>
          </a:prstGeom>
          <a:noFill/>
        </p:spPr>
        <p:txBody>
          <a:bodyPr wrap="square" lIns="0" rIns="0" tIns="0" bIns="0" anchor="t">
            <a:spAutoFit/>
          </a:bodyPr>
          <a:lstStyle/>
          <a:p>
            <a:pPr algn="ctr">
              <a:lnSpc>
                <a:spcPts val="1687"/>
              </a:lnSpc>
            </a:pPr>
            <a:r>
              <a:rPr b="0" sz="1125" i="0" u="none">
                <a:solidFill>
                  <a:srgbClr val="475569"/>
                </a:solidFill>
                <a:latin typeface="Inter"/>
              </a:rPr>
              <a:t>Lỗi B4, B14, B26 đã bị phơi bày trong tệp ví dụ đào tạo của skill, triệt tiêu tính bất ngờ.</a:t>
            </a:r>
          </a:p>
        </p:txBody>
      </p:sp>
      <p:sp>
        <p:nvSpPr>
          <p:cNvPr id="13" name="TextBox 12"/>
          <p:cNvSpPr txBox="1"/>
          <p:nvPr/>
        </p:nvSpPr>
        <p:spPr>
          <a:xfrm>
            <a:off x="7861101" y="3579018"/>
            <a:ext cx="3175396" cy="200025"/>
          </a:xfrm>
          <a:prstGeom prst="rect">
            <a:avLst/>
          </a:prstGeom>
          <a:noFill/>
        </p:spPr>
        <p:txBody>
          <a:bodyPr wrap="none" lIns="0" rIns="0" tIns="0" bIns="0" anchor="t">
            <a:spAutoFit/>
          </a:bodyPr>
          <a:lstStyle/>
          <a:p>
            <a:pPr algn="ctr"/>
            <a:r>
              <a:rPr b="1" sz="1350" i="0" u="none">
                <a:solidFill>
                  <a:srgbClr val="1E293B"/>
                </a:solidFill>
                <a:latin typeface="Inter"/>
              </a:rPr>
              <a:t>Quy Mô Quá Nhỏ</a:t>
            </a:r>
          </a:p>
        </p:txBody>
      </p:sp>
      <p:sp>
        <p:nvSpPr>
          <p:cNvPr id="14" name="TextBox 13"/>
          <p:cNvSpPr txBox="1"/>
          <p:nvPr/>
        </p:nvSpPr>
        <p:spPr>
          <a:xfrm>
            <a:off x="7936706" y="3893343"/>
            <a:ext cx="3024187" cy="428625"/>
          </a:xfrm>
          <a:prstGeom prst="rect">
            <a:avLst/>
          </a:prstGeom>
          <a:noFill/>
        </p:spPr>
        <p:txBody>
          <a:bodyPr wrap="square" lIns="0" rIns="0" tIns="0" bIns="0" anchor="t">
            <a:spAutoFit/>
          </a:bodyPr>
          <a:lstStyle/>
          <a:p>
            <a:pPr algn="ctr">
              <a:lnSpc>
                <a:spcPts val="1687"/>
              </a:lnSpc>
            </a:pPr>
            <a:r>
              <a:rPr b="0" sz="1125" i="0" u="none">
                <a:solidFill>
                  <a:srgbClr val="475569"/>
                </a:solidFill>
                <a:latin typeface="Inter"/>
              </a:rPr>
              <a:t>Chỉ có 13 kịch bản, tỉ lệ bắt lỗi 4/5 mang độ bất định thống kê rất cao.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609600" y="4512766"/>
            <a:ext cx="10972800" cy="781050"/>
          </a:xfrm>
          <a:prstGeom prst="roundRect">
            <a:avLst>
              <a:gd name="adj" fmla="val 9756"/>
            </a:avLst>
          </a:prstGeom>
          <a:solidFill>
            <a:srgbClr val="251C2D"/>
          </a:solidFill>
          <a:ln w="9525">
            <a:solidFill>
              <a:srgbClr val="5225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364283"/>
            <a:ext cx="5334000" cy="1881782"/>
          </a:xfrm>
          <a:prstGeom prst="roundRect">
            <a:avLst>
              <a:gd name="adj" fmla="val 6074"/>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48400" y="2364283"/>
            <a:ext cx="5334000" cy="1881782"/>
          </a:xfrm>
          <a:prstGeom prst="roundRect">
            <a:avLst>
              <a:gd name="adj" fmla="val 6074"/>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1564183"/>
            <a:ext cx="11582400" cy="457200"/>
          </a:xfrm>
          <a:prstGeom prst="rect">
            <a:avLst/>
          </a:prstGeom>
          <a:noFill/>
        </p:spPr>
        <p:txBody>
          <a:bodyPr wrap="none" lIns="0" rIns="0" tIns="0" bIns="0" anchor="t">
            <a:spAutoFit/>
          </a:bodyPr>
          <a:lstStyle/>
          <a:p>
            <a:pPr algn="l"/>
            <a:r>
              <a:rPr b="1" sz="2850" i="0" u="none">
                <a:solidFill>
                  <a:srgbClr val="F8FAFC"/>
                </a:solidFill>
                <a:latin typeface="Space Grotesk"/>
              </a:rPr>
              <a:t>Đề Xuất Cải Tiến Kỹ Thuật</a:t>
            </a:r>
          </a:p>
        </p:txBody>
      </p:sp>
      <p:sp>
        <p:nvSpPr>
          <p:cNvPr id="6" name="TextBox 5"/>
          <p:cNvSpPr txBox="1"/>
          <p:nvPr/>
        </p:nvSpPr>
        <p:spPr>
          <a:xfrm>
            <a:off x="847725" y="4674691"/>
            <a:ext cx="10591800" cy="457200"/>
          </a:xfrm>
          <a:prstGeom prst="rect">
            <a:avLst/>
          </a:prstGeom>
          <a:noFill/>
        </p:spPr>
        <p:txBody>
          <a:bodyPr wrap="square" lIns="0" rIns="0" tIns="0" bIns="0" anchor="t">
            <a:spAutoFit/>
          </a:bodyPr>
          <a:lstStyle/>
          <a:p>
            <a:pPr algn="l">
              <a:lnSpc>
                <a:spcPts val="1800"/>
              </a:lnSpc>
            </a:pPr>
            <a:r>
              <a:rPr b="1" sz="1200" i="0" u="none">
                <a:solidFill>
                  <a:srgbClr val="FCA5A5"/>
                </a:solidFill>
                <a:latin typeface="Inter"/>
              </a:rPr>
              <a:t>Kết luận chung:</a:t>
            </a:r>
            <a:r>
              <a:rPr b="0" sz="1200" i="0" u="none">
                <a:solidFill>
                  <a:srgbClr val="F8FAFC"/>
                </a:solidFill>
                <a:latin typeface="Inter"/>
              </a:rPr>
              <a:t> Bộ skill hiện đủ khả năng tạo khung tự động hóa thô, nhưng để thực sự hữu dụng, nó đòi hỏi sự kiểm soát nghiêm ngặt (Checklist) và năng lực chẩn đoán (Diagnostic) độc lập từ Kỹ sư phần mềm.</a:t>
            </a:r>
          </a:p>
        </p:txBody>
      </p:sp>
      <p:sp>
        <p:nvSpPr>
          <p:cNvPr id="7" name="TextBox 6"/>
          <p:cNvSpPr txBox="1"/>
          <p:nvPr/>
        </p:nvSpPr>
        <p:spPr>
          <a:xfrm>
            <a:off x="876300" y="2630983"/>
            <a:ext cx="6300787" cy="228600"/>
          </a:xfrm>
          <a:prstGeom prst="rect">
            <a:avLst/>
          </a:prstGeom>
          <a:noFill/>
        </p:spPr>
        <p:txBody>
          <a:bodyPr wrap="none" lIns="0" rIns="0" tIns="0" bIns="0" anchor="t">
            <a:spAutoFit/>
          </a:bodyPr>
          <a:lstStyle/>
          <a:p>
            <a:pPr algn="l"/>
            <a:r>
              <a:rPr b="1" sz="1500" i="0" u="none">
                <a:solidFill>
                  <a:srgbClr val="60A5FA"/>
                </a:solidFill>
                <a:latin typeface="Inter"/>
              </a:rPr>
              <a:t>Gò Ép Agent Phân Tích</a:t>
            </a:r>
          </a:p>
        </p:txBody>
      </p:sp>
      <p:sp>
        <p:nvSpPr>
          <p:cNvPr id="8" name="TextBox 7"/>
          <p:cNvSpPr txBox="1"/>
          <p:nvPr/>
        </p:nvSpPr>
        <p:spPr>
          <a:xfrm>
            <a:off x="6515100" y="2630983"/>
            <a:ext cx="5676900" cy="228600"/>
          </a:xfrm>
          <a:prstGeom prst="rect">
            <a:avLst/>
          </a:prstGeom>
          <a:noFill/>
        </p:spPr>
        <p:txBody>
          <a:bodyPr wrap="none" lIns="0" rIns="0" tIns="0" bIns="0" anchor="t">
            <a:spAutoFit/>
          </a:bodyPr>
          <a:lstStyle/>
          <a:p>
            <a:pPr algn="l"/>
            <a:r>
              <a:rPr b="1" sz="1500" i="0" u="none">
                <a:solidFill>
                  <a:srgbClr val="34D399"/>
                </a:solidFill>
                <a:latin typeface="Inter"/>
              </a:rPr>
              <a:t>Công Cụ &amp; Trách Nhiệm</a:t>
            </a:r>
          </a:p>
        </p:txBody>
      </p:sp>
      <p:sp>
        <p:nvSpPr>
          <p:cNvPr id="9" name="TextBox 8"/>
          <p:cNvSpPr txBox="1"/>
          <p:nvPr/>
        </p:nvSpPr>
        <p:spPr>
          <a:xfrm>
            <a:off x="971550" y="3012936"/>
            <a:ext cx="95250" cy="257175"/>
          </a:xfrm>
          <a:prstGeom prst="rect">
            <a:avLst/>
          </a:prstGeom>
          <a:noFill/>
        </p:spPr>
        <p:txBody>
          <a:bodyPr wrap="none" lIns="0" rIns="0" tIns="0" bIns="0" anchor="t">
            <a:spAutoFit/>
          </a:bodyPr>
          <a:lstStyle/>
          <a:p>
            <a:pPr algn="l"/>
            <a:r>
              <a:rPr b="0" sz="1275" i="0" u="none">
                <a:solidFill>
                  <a:srgbClr val="CBD5E1"/>
                </a:solidFill>
                <a:latin typeface="Inter"/>
              </a:rPr>
              <a:t>•</a:t>
            </a:r>
          </a:p>
        </p:txBody>
      </p:sp>
      <p:sp>
        <p:nvSpPr>
          <p:cNvPr id="10" name="TextBox 9"/>
          <p:cNvSpPr txBox="1"/>
          <p:nvPr/>
        </p:nvSpPr>
        <p:spPr>
          <a:xfrm>
            <a:off x="1066800" y="3011983"/>
            <a:ext cx="5762625" cy="258960"/>
          </a:xfrm>
          <a:prstGeom prst="rect">
            <a:avLst/>
          </a:prstGeom>
          <a:noFill/>
        </p:spPr>
        <p:txBody>
          <a:bodyPr wrap="none" lIns="95250" rIns="0" tIns="0" bIns="0" anchor="t">
            <a:spAutoFit/>
          </a:bodyPr>
          <a:lstStyle/>
          <a:p>
            <a:pPr algn="l">
              <a:lnSpc>
                <a:spcPts val="2039"/>
              </a:lnSpc>
            </a:pPr>
            <a:r>
              <a:rPr b="0" sz="1275" i="0" u="none">
                <a:solidFill>
                  <a:srgbClr val="CBD5E1"/>
                </a:solidFill>
                <a:latin typeface="Inter"/>
              </a:rPr>
              <a:t>Cấm đoán AI đọc mã nguồn (</a:t>
            </a:r>
            <a:r>
              <a:rPr b="0" sz="1275" i="0" u="none">
                <a:solidFill>
                  <a:srgbClr val="CBD5E1"/>
                </a:solidFill>
                <a:latin typeface="Inter"/>
              </a:rPr>
              <a:t>server.js</a:t>
            </a:r>
            <a:r>
              <a:rPr b="0" sz="1275" i="0" u="none">
                <a:solidFill>
                  <a:srgbClr val="CBD5E1"/>
                </a:solidFill>
                <a:latin typeface="Inter"/>
              </a:rPr>
              <a:t>) để moi chuỗi lỗi.</a:t>
            </a:r>
          </a:p>
        </p:txBody>
      </p:sp>
      <p:sp>
        <p:nvSpPr>
          <p:cNvPr id="11" name="TextBox 10"/>
          <p:cNvSpPr txBox="1"/>
          <p:nvPr/>
        </p:nvSpPr>
        <p:spPr>
          <a:xfrm>
            <a:off x="971550" y="3367147"/>
            <a:ext cx="95250" cy="257175"/>
          </a:xfrm>
          <a:prstGeom prst="rect">
            <a:avLst/>
          </a:prstGeom>
          <a:noFill/>
        </p:spPr>
        <p:txBody>
          <a:bodyPr wrap="none" lIns="0" rIns="0" tIns="0" bIns="0" anchor="t">
            <a:spAutoFit/>
          </a:bodyPr>
          <a:lstStyle/>
          <a:p>
            <a:pPr algn="l"/>
            <a:r>
              <a:rPr b="0" sz="1275" i="0" u="none">
                <a:solidFill>
                  <a:srgbClr val="CBD5E1"/>
                </a:solidFill>
                <a:latin typeface="Inter"/>
              </a:rPr>
              <a:t>•</a:t>
            </a:r>
          </a:p>
        </p:txBody>
      </p:sp>
      <p:sp>
        <p:nvSpPr>
          <p:cNvPr id="12" name="TextBox 11"/>
          <p:cNvSpPr txBox="1"/>
          <p:nvPr/>
        </p:nvSpPr>
        <p:spPr>
          <a:xfrm>
            <a:off x="1066800" y="3366194"/>
            <a:ext cx="5762625" cy="258960"/>
          </a:xfrm>
          <a:prstGeom prst="rect">
            <a:avLst/>
          </a:prstGeom>
          <a:noFill/>
        </p:spPr>
        <p:txBody>
          <a:bodyPr wrap="none" lIns="95250" rIns="0" tIns="0" bIns="0" anchor="t">
            <a:spAutoFit/>
          </a:bodyPr>
          <a:lstStyle/>
          <a:p>
            <a:pPr algn="l">
              <a:lnSpc>
                <a:spcPts val="2039"/>
              </a:lnSpc>
            </a:pPr>
            <a:r>
              <a:rPr b="0" sz="1275" i="0" u="none">
                <a:solidFill>
                  <a:srgbClr val="CBD5E1"/>
                </a:solidFill>
                <a:latin typeface="Inter"/>
              </a:rPr>
              <a:t>Thay đổi ví dụ mồi (Prompt) không trùng với API mục tiêu.</a:t>
            </a:r>
          </a:p>
        </p:txBody>
      </p:sp>
      <p:sp>
        <p:nvSpPr>
          <p:cNvPr id="13" name="TextBox 12"/>
          <p:cNvSpPr txBox="1"/>
          <p:nvPr/>
        </p:nvSpPr>
        <p:spPr>
          <a:xfrm>
            <a:off x="6610350" y="3012936"/>
            <a:ext cx="95250" cy="257175"/>
          </a:xfrm>
          <a:prstGeom prst="rect">
            <a:avLst/>
          </a:prstGeom>
          <a:noFill/>
        </p:spPr>
        <p:txBody>
          <a:bodyPr wrap="none" lIns="0" rIns="0" tIns="0" bIns="0" anchor="t">
            <a:spAutoFit/>
          </a:bodyPr>
          <a:lstStyle/>
          <a:p>
            <a:pPr algn="l"/>
            <a:r>
              <a:rPr b="0" sz="1275" i="0" u="none">
                <a:solidFill>
                  <a:srgbClr val="CBD5E1"/>
                </a:solidFill>
                <a:latin typeface="Inter"/>
              </a:rPr>
              <a:t>•</a:t>
            </a:r>
          </a:p>
        </p:txBody>
      </p:sp>
      <p:sp>
        <p:nvSpPr>
          <p:cNvPr id="14" name="TextBox 13"/>
          <p:cNvSpPr txBox="1"/>
          <p:nvPr/>
        </p:nvSpPr>
        <p:spPr>
          <a:xfrm>
            <a:off x="6705600" y="3011983"/>
            <a:ext cx="5486400" cy="258960"/>
          </a:xfrm>
          <a:prstGeom prst="rect">
            <a:avLst/>
          </a:prstGeom>
          <a:noFill/>
        </p:spPr>
        <p:txBody>
          <a:bodyPr wrap="none" lIns="95250" rIns="0" tIns="0" bIns="0" anchor="t">
            <a:spAutoFit/>
          </a:bodyPr>
          <a:lstStyle/>
          <a:p>
            <a:pPr algn="l">
              <a:lnSpc>
                <a:spcPts val="2039"/>
              </a:lnSpc>
            </a:pPr>
            <a:r>
              <a:rPr b="0" sz="1275" i="0" u="none">
                <a:solidFill>
                  <a:srgbClr val="CBD5E1"/>
                </a:solidFill>
                <a:latin typeface="Inter"/>
              </a:rPr>
              <a:t>Nâng cấp </a:t>
            </a:r>
            <a:r>
              <a:rPr b="0" sz="1275" i="0" u="none">
                <a:solidFill>
                  <a:srgbClr val="CBD5E1"/>
                </a:solidFill>
                <a:latin typeface="Inter"/>
              </a:rPr>
              <a:t>check_coverage.py</a:t>
            </a:r>
            <a:r>
              <a:rPr b="0" sz="1275" i="0" u="none">
                <a:solidFill>
                  <a:srgbClr val="CBD5E1"/>
                </a:solidFill>
                <a:latin typeface="Inter"/>
              </a:rPr>
              <a:t> bắt lỗi cú pháp biến JSON.</a:t>
            </a:r>
          </a:p>
        </p:txBody>
      </p:sp>
      <p:sp>
        <p:nvSpPr>
          <p:cNvPr id="15" name="TextBox 14"/>
          <p:cNvSpPr txBox="1"/>
          <p:nvPr/>
        </p:nvSpPr>
        <p:spPr>
          <a:xfrm>
            <a:off x="6610350" y="3367147"/>
            <a:ext cx="95250" cy="257175"/>
          </a:xfrm>
          <a:prstGeom prst="rect">
            <a:avLst/>
          </a:prstGeom>
          <a:noFill/>
        </p:spPr>
        <p:txBody>
          <a:bodyPr wrap="none" lIns="0" rIns="0" tIns="0" bIns="0" anchor="t">
            <a:spAutoFit/>
          </a:bodyPr>
          <a:lstStyle/>
          <a:p>
            <a:pPr algn="l"/>
            <a:r>
              <a:rPr b="0" sz="1275" i="0" u="none">
                <a:solidFill>
                  <a:srgbClr val="CBD5E1"/>
                </a:solidFill>
                <a:latin typeface="Inter"/>
              </a:rPr>
              <a:t>•</a:t>
            </a:r>
          </a:p>
        </p:txBody>
      </p:sp>
      <p:sp>
        <p:nvSpPr>
          <p:cNvPr id="16" name="TextBox 15"/>
          <p:cNvSpPr txBox="1"/>
          <p:nvPr/>
        </p:nvSpPr>
        <p:spPr>
          <a:xfrm>
            <a:off x="6705600" y="3366194"/>
            <a:ext cx="4705350" cy="517921"/>
          </a:xfrm>
          <a:prstGeom prst="rect">
            <a:avLst/>
          </a:prstGeom>
          <a:noFill/>
        </p:spPr>
        <p:txBody>
          <a:bodyPr wrap="square" lIns="95250" rIns="0" tIns="0" bIns="0" anchor="t">
            <a:spAutoFit/>
          </a:bodyPr>
          <a:lstStyle/>
          <a:p>
            <a:pPr algn="l">
              <a:lnSpc>
                <a:spcPts val="2039"/>
              </a:lnSpc>
            </a:pPr>
            <a:r>
              <a:rPr b="0" sz="1275" i="0" u="none">
                <a:solidFill>
                  <a:srgbClr val="CBD5E1"/>
                </a:solidFill>
                <a:latin typeface="Inter"/>
              </a:rPr>
              <a:t>Yêu cầu Bảng Kiểm (Checklist) tĩnh cho kỹ sư ở bước Duyệt.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